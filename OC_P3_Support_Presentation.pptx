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64" r:id="rId5"/>
    <p:sldId id="258" r:id="rId6"/>
    <p:sldId id="259" r:id="rId7"/>
    <p:sldId id="260" r:id="rId8"/>
    <p:sldId id="265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3"/>
    <p:restoredTop sz="89385"/>
  </p:normalViewPr>
  <p:slideViewPr>
    <p:cSldViewPr snapToGrid="0" snapToObjects="1">
      <p:cViewPr>
        <p:scale>
          <a:sx n="152" d="100"/>
          <a:sy n="152" d="100"/>
        </p:scale>
        <p:origin x="48" y="-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2BF14-2FBF-4643-8257-60843B12A07C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FD6C3-E2B2-384B-91EF-8FF6F52E91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8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FD6C3-E2B2-384B-91EF-8FF6F52E910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040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Tester le module pour la feature importance </a:t>
            </a:r>
            <a:r>
              <a:rPr lang="fr-FR" dirty="0" err="1"/>
              <a:t>shap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Détecter les Multi colinéarité </a:t>
            </a:r>
            <a:r>
              <a:rPr lang="fr-FR"/>
              <a:t>et significativité </a:t>
            </a:r>
            <a:r>
              <a:rPr lang="fr-FR" dirty="0"/>
              <a:t>des coefficients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FD6C3-E2B2-384B-91EF-8FF6F52E910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923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8D03-460D-8844-8DA4-901993F35E2E}" type="datetime1">
              <a:rPr lang="fr-FR" smtClean="0"/>
              <a:t>20/10/2026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E76A-470D-4947-8A0C-6850C0EB2E37}" type="datetime1">
              <a:rPr lang="fr-FR" smtClean="0"/>
              <a:t>20/10/2026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2A81-FC3F-D245-83CE-854CC4330A20}" type="datetime1">
              <a:rPr lang="fr-FR" smtClean="0"/>
              <a:t>20/10/2026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E0FF-40ED-5E4D-B616-48B2382715FA}" type="datetime1">
              <a:rPr lang="fr-FR" smtClean="0"/>
              <a:t>20/10/2026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C920-A4E5-EA41-94EB-352EA5317C2B}" type="datetime1">
              <a:rPr lang="fr-FR" smtClean="0"/>
              <a:t>20/10/2026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C0CE-6880-DC48-81B0-884254DC8EEA}" type="datetime1">
              <a:rPr lang="fr-FR" smtClean="0"/>
              <a:t>20/10/2026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917FB-0588-1245-A2B1-13F676E6695E}" type="datetime1">
              <a:rPr lang="fr-FR" smtClean="0"/>
              <a:t>20/10/2026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6AF-7226-F645-B51D-CD93B5541D03}" type="datetime1">
              <a:rPr lang="fr-FR" smtClean="0"/>
              <a:t>20/10/2026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ED1A-BC21-1E41-9593-7D539B6103A8}" type="datetime1">
              <a:rPr lang="fr-FR" smtClean="0"/>
              <a:t>20/10/2026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DF16-FDBD-5D4B-808D-E44E618FD851}" type="datetime1">
              <a:rPr lang="fr-FR" smtClean="0"/>
              <a:t>20/10/2026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95E7-688D-6646-83EE-0D3BDBA945D2}" type="datetime1">
              <a:rPr lang="fr-FR" smtClean="0"/>
              <a:t>20/10/2026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F1A12-357A-B248-8C36-4D6A2870AB2B}" type="datetime1">
              <a:rPr lang="fr-FR" smtClean="0"/>
              <a:t>20/10/2026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Modélisation Prédictive (Machine Learning)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Anticipation des </a:t>
            </a:r>
            <a:r>
              <a:rPr dirty="0" err="1"/>
              <a:t>Besoins</a:t>
            </a:r>
            <a:r>
              <a:rPr dirty="0"/>
              <a:t> </a:t>
            </a:r>
            <a:r>
              <a:rPr dirty="0" err="1"/>
              <a:t>Énergétiques</a:t>
            </a:r>
            <a:r>
              <a:rPr dirty="0"/>
              <a:t> &amp; </a:t>
            </a:r>
            <a:r>
              <a:rPr dirty="0" err="1"/>
              <a:t>Émissions</a:t>
            </a:r>
            <a:r>
              <a:rPr dirty="0"/>
              <a:t> CO₂</a:t>
            </a:r>
          </a:p>
          <a:p>
            <a:pPr algn="l">
              <a:spcBef>
                <a:spcPts val="1400"/>
              </a:spcBef>
              <a:defRPr sz="2000">
                <a:solidFill>
                  <a:srgbClr val="0284C7"/>
                </a:solidFill>
                <a:latin typeface="Verdana"/>
              </a:defRPr>
            </a:pPr>
            <a:r>
              <a:rPr dirty="0" err="1"/>
              <a:t>Présentation</a:t>
            </a:r>
            <a:r>
              <a:rPr dirty="0"/>
              <a:t> </a:t>
            </a:r>
            <a:r>
              <a:rPr lang="fr-FR" dirty="0"/>
              <a:t>de</a:t>
            </a:r>
            <a:r>
              <a:rPr dirty="0"/>
              <a:t> </a:t>
            </a:r>
            <a:r>
              <a:rPr dirty="0" err="1"/>
              <a:t>Soutenanc</a:t>
            </a:r>
            <a:r>
              <a:rPr lang="fr-FR" dirty="0"/>
              <a:t>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2286000" cy="50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E5746B8-FAFA-3356-0687-81453DA10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366" y="2297610"/>
            <a:ext cx="8782768" cy="4795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FC790-E08B-13F3-FF3A-E10E7068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6F7E633-5FF9-A072-AFA9-9B211748D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1" y="228846"/>
            <a:ext cx="13908423" cy="75939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F59151-E702-E33E-2D99-61FD4450F563}"/>
              </a:ext>
            </a:extLst>
          </p:cNvPr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F5F91-4B7B-D716-8B16-6742ADE33DED}"/>
              </a:ext>
            </a:extLst>
          </p:cNvPr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65480-6882-76BF-67EB-B244947FC245}"/>
              </a:ext>
            </a:extLst>
          </p:cNvPr>
          <p:cNvSpPr txBox="1"/>
          <p:nvPr/>
        </p:nvSpPr>
        <p:spPr>
          <a:xfrm>
            <a:off x="892079" y="338512"/>
            <a:ext cx="10407535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SOMMAIRE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DAE181-E165-9991-77B9-0CA3BAFD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Modélisation</a:t>
            </a:r>
            <a:r>
              <a:rPr lang="en-US" dirty="0"/>
              <a:t> </a:t>
            </a:r>
            <a:r>
              <a:rPr lang="en-US" dirty="0" err="1"/>
              <a:t>Prédictive</a:t>
            </a:r>
            <a:r>
              <a:rPr lang="en-US" dirty="0"/>
              <a:t>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4C9E1C-C930-2A1C-BD29-4F21D08B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15B85386-FF4A-5A10-85F7-55CE5972FE72}"/>
              </a:ext>
            </a:extLst>
          </p:cNvPr>
          <p:cNvSpPr/>
          <p:nvPr/>
        </p:nvSpPr>
        <p:spPr>
          <a:xfrm>
            <a:off x="572656" y="1710112"/>
            <a:ext cx="8914244" cy="451750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0" tIns="274320" rIns="274320" rtlCol="0" anchor="t"/>
          <a:lstStyle/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Présentation de l’environnement projet &amp; Gestion documentaire 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Audit du dataset , Nettoyage des données  &amp; Analyse Exploratoire (EDA) 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Feature Engineering, Encodage &amp; Normalisation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Validation croisée &amp; Entraînement des modèles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Scores et interprétation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Optimisation du meilleur modèle (</a:t>
            </a:r>
            <a:r>
              <a:rPr lang="fr-FR" sz="1600" dirty="0" err="1">
                <a:solidFill>
                  <a:schemeClr val="tx1"/>
                </a:solidFill>
              </a:rPr>
              <a:t>Grid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Search</a:t>
            </a:r>
            <a:r>
              <a:rPr lang="fr-FR" sz="1600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Nouveaux Scores et Feature importance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dirty="0">
                <a:solidFill>
                  <a:schemeClr val="tx1"/>
                </a:solidFill>
              </a:rPr>
              <a:t>Choix du modèle a déployer</a:t>
            </a: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endParaRPr lang="fr-FR" sz="1600" dirty="0">
              <a:solidFill>
                <a:schemeClr val="tx1"/>
              </a:solidFill>
            </a:endParaRP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endParaRPr lang="fr-FR" sz="1600" dirty="0">
              <a:solidFill>
                <a:schemeClr val="tx1"/>
              </a:solidFill>
            </a:endParaRPr>
          </a:p>
          <a:p>
            <a:pPr marL="228600" indent="-228600">
              <a:spcAft>
                <a:spcPts val="1000"/>
              </a:spcAft>
              <a:buFont typeface="+mj-lt"/>
              <a:buAutoNum type="arabicPeriod"/>
              <a:defRPr sz="1600" b="1">
                <a:solidFill>
                  <a:srgbClr val="1E293B"/>
                </a:solidFill>
                <a:latin typeface="Georgia"/>
              </a:defRPr>
            </a:pPr>
            <a:endParaRPr lang="fr-FR" sz="140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endParaRPr lang="fr-FR" sz="1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51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F8FEC10-CDF4-D4D8-7978-25DC3771D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8366" y="331296"/>
            <a:ext cx="13908423" cy="75939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2079" y="338512"/>
            <a:ext cx="10407535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1 - Environnement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fr-FR" dirty="0">
                <a:solidFill>
                  <a:schemeClr val="bg1"/>
                </a:solidFill>
              </a:rPr>
              <a:t>technique et gestion documentaire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D8E295-3E84-2DD1-93B5-67661A5A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Modélisation</a:t>
            </a:r>
            <a:r>
              <a:rPr lang="en-US" dirty="0"/>
              <a:t> </a:t>
            </a:r>
            <a:r>
              <a:rPr lang="en-US" dirty="0" err="1"/>
              <a:t>Prédictive</a:t>
            </a:r>
            <a:r>
              <a:rPr lang="en-US" dirty="0"/>
              <a:t>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B85BFD-6E4B-36CA-DFEE-365F5EE1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4CA2B97-DE01-3996-CD5B-61C9FB058E58}"/>
              </a:ext>
            </a:extLst>
          </p:cNvPr>
          <p:cNvSpPr/>
          <p:nvPr/>
        </p:nvSpPr>
        <p:spPr>
          <a:xfrm>
            <a:off x="6182821" y="1783080"/>
            <a:ext cx="5303520" cy="276882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Gestion documentaire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Dossier data/RAW </a:t>
            </a:r>
            <a:r>
              <a:rPr dirty="0"/>
              <a:t>: </a:t>
            </a:r>
            <a:r>
              <a:rPr lang="fr-FR" b="0" dirty="0">
                <a:solidFill>
                  <a:srgbClr val="64748B"/>
                </a:solidFill>
              </a:rPr>
              <a:t>Utilisé pour stocker le dataset d’origine</a:t>
            </a:r>
            <a:r>
              <a:rPr b="0" dirty="0">
                <a:solidFill>
                  <a:srgbClr val="64748B"/>
                </a:solidFill>
              </a:rPr>
              <a:t>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Dossier data/PROCESSED</a:t>
            </a:r>
            <a:r>
              <a:rPr dirty="0"/>
              <a:t>: </a:t>
            </a:r>
            <a:r>
              <a:rPr lang="fr-FR" b="0" dirty="0">
                <a:solidFill>
                  <a:srgbClr val="64748B"/>
                </a:solidFill>
              </a:rPr>
              <a:t>Utilisé pour stocker les datasets traités (nettoyés et prêt pour l’entraînement des modèles)</a:t>
            </a:r>
            <a:r>
              <a:rPr b="0" dirty="0">
                <a:solidFill>
                  <a:srgbClr val="64748B"/>
                </a:solidFill>
              </a:rPr>
              <a:t>.</a:t>
            </a: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 err="1"/>
              <a:t>Requirements.txt</a:t>
            </a:r>
            <a:r>
              <a:rPr dirty="0"/>
              <a:t>: </a:t>
            </a:r>
            <a:r>
              <a:rPr lang="fr-FR" b="0" dirty="0">
                <a:solidFill>
                  <a:srgbClr val="64748B"/>
                </a:solidFill>
              </a:rPr>
              <a:t>Document qui répertorie les librairies python nécessaires au projet (a terme ce document sera dans le dossier GIT pour un éventuel  environnement Docker)</a:t>
            </a:r>
            <a:r>
              <a:rPr b="0" dirty="0">
                <a:solidFill>
                  <a:srgbClr val="64748B"/>
                </a:solidFill>
              </a:rPr>
              <a:t>.</a:t>
            </a: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  </a:t>
            </a:r>
            <a:endParaRPr lang="fr-FR" b="0" dirty="0">
              <a:solidFill>
                <a:srgbClr val="64748B"/>
              </a:solidFill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DC7249D2-388F-1AA3-C0FA-E37529303F9A}"/>
              </a:ext>
            </a:extLst>
          </p:cNvPr>
          <p:cNvSpPr/>
          <p:nvPr/>
        </p:nvSpPr>
        <p:spPr>
          <a:xfrm>
            <a:off x="472440" y="1783080"/>
            <a:ext cx="5303520" cy="2181629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Environnement Technique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VS code </a:t>
            </a:r>
            <a:r>
              <a:rPr dirty="0"/>
              <a:t>: </a:t>
            </a:r>
            <a:r>
              <a:rPr lang="fr-FR" b="0" dirty="0">
                <a:solidFill>
                  <a:srgbClr val="64748B"/>
                </a:solidFill>
              </a:rPr>
              <a:t>Utilisé travailler sur les documents de prototypage des modèles</a:t>
            </a:r>
            <a:r>
              <a:rPr lang="fr-FR" dirty="0">
                <a:solidFill>
                  <a:srgbClr val="64748B"/>
                </a:solidFill>
              </a:rPr>
              <a:t>.</a:t>
            </a:r>
            <a:endParaRPr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Git hub</a:t>
            </a:r>
            <a:r>
              <a:rPr dirty="0"/>
              <a:t>: </a:t>
            </a:r>
            <a:r>
              <a:rPr lang="fr-FR" b="0" dirty="0">
                <a:solidFill>
                  <a:srgbClr val="64748B"/>
                </a:solidFill>
              </a:rPr>
              <a:t>Utilisé pour héberger les documents (datasets et documents de prototypage) sur une plateforme partagée en ligne. </a:t>
            </a:r>
            <a:endParaRPr b="0" dirty="0">
              <a:solidFill>
                <a:srgbClr val="64748B"/>
              </a:solidFill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9A259A45-8D26-77D3-A1DB-181F44B842ED}"/>
              </a:ext>
            </a:extLst>
          </p:cNvPr>
          <p:cNvSpPr/>
          <p:nvPr/>
        </p:nvSpPr>
        <p:spPr>
          <a:xfrm>
            <a:off x="6182821" y="4769860"/>
            <a:ext cx="5303520" cy="136852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GIT Hub &lt;&gt; VS Code 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Les modifications sur tous les documents ont été hébergées sur GIT Hub. Sur VS Code, il y a un état des lieux de tous les commit depuis le début du projet</a:t>
            </a:r>
            <a:endParaRPr b="0" dirty="0">
              <a:solidFill>
                <a:srgbClr val="64748B"/>
              </a:solidFill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1BE7F4C5-4528-CAF8-D609-2CE691A91175}"/>
              </a:ext>
            </a:extLst>
          </p:cNvPr>
          <p:cNvSpPr/>
          <p:nvPr/>
        </p:nvSpPr>
        <p:spPr>
          <a:xfrm>
            <a:off x="472440" y="4240316"/>
            <a:ext cx="5303520" cy="1898073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Code et prototypage</a:t>
            </a:r>
            <a:endParaRPr b="0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P3_analyse_nettoyage_dataset.ipynb </a:t>
            </a:r>
            <a:r>
              <a:rPr dirty="0"/>
              <a:t>: </a:t>
            </a:r>
            <a:r>
              <a:rPr lang="fr-FR" b="0" dirty="0">
                <a:solidFill>
                  <a:srgbClr val="64748B"/>
                </a:solidFill>
              </a:rPr>
              <a:t> Document dans lequel se trouvent les algorithmes de nettoyage et la création de la première Feature (FE1)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P3_modelisation_ML_supervisee.ipynb</a:t>
            </a:r>
            <a:r>
              <a:rPr dirty="0"/>
              <a:t>: </a:t>
            </a:r>
            <a:r>
              <a:rPr lang="fr-FR" b="0" dirty="0">
                <a:solidFill>
                  <a:srgbClr val="64748B"/>
                </a:solidFill>
              </a:rPr>
              <a:t>Document dans lequel se trouvent les algorithmes de modélisation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  </a:t>
            </a:r>
            <a:endParaRPr lang="fr-FR" b="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93664-9033-EBF1-C1B2-2824BC5B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E7265C7-7A91-F4E3-CEB3-F1122BE18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2653" y="207965"/>
            <a:ext cx="13908423" cy="75939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3C623D-4F85-46B9-AC5D-9FFE9EB590FF}"/>
              </a:ext>
            </a:extLst>
          </p:cNvPr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443CC7-7D1E-6035-ADEF-CF40AC720C5C}"/>
              </a:ext>
            </a:extLst>
          </p:cNvPr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5EEC5-EE07-F363-19F5-4B7BC84257C6}"/>
              </a:ext>
            </a:extLst>
          </p:cNvPr>
          <p:cNvSpPr txBox="1"/>
          <p:nvPr/>
        </p:nvSpPr>
        <p:spPr>
          <a:xfrm>
            <a:off x="731520" y="320040"/>
            <a:ext cx="10698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2 - Audit du </a:t>
            </a:r>
            <a:r>
              <a:rPr lang="fr-FR" dirty="0" err="1">
                <a:solidFill>
                  <a:schemeClr val="bg1"/>
                </a:solidFill>
              </a:rPr>
              <a:t>DataSet</a:t>
            </a:r>
            <a:r>
              <a:rPr lang="fr-FR" dirty="0">
                <a:solidFill>
                  <a:schemeClr val="bg1"/>
                </a:solidFill>
              </a:rPr>
              <a:t> &amp; Nettoyage des données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50D21E-C75E-EFB4-C780-96B0CEA5B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F294BD-9DD0-BF18-6665-079EE27B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E02323E2-BA67-482B-B001-851EE7510CC9}"/>
              </a:ext>
            </a:extLst>
          </p:cNvPr>
          <p:cNvSpPr/>
          <p:nvPr/>
        </p:nvSpPr>
        <p:spPr>
          <a:xfrm>
            <a:off x="6096000" y="5633421"/>
            <a:ext cx="5726544" cy="7042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228600" tIns="228600" rtlCol="0" anchor="t"/>
          <a:lstStyle/>
          <a:p>
            <a:pPr>
              <a:spcAft>
                <a:spcPts val="400"/>
              </a:spcAft>
              <a:defRPr sz="1600" b="1">
                <a:solidFill>
                  <a:srgbClr val="0D9488"/>
                </a:solidFill>
                <a:latin typeface="Georgia"/>
              </a:defRPr>
            </a:pPr>
            <a:r>
              <a:rPr lang="fr-FR" dirty="0"/>
              <a:t>Définition de la v</a:t>
            </a:r>
            <a:r>
              <a:rPr dirty="0" err="1"/>
              <a:t>ariable</a:t>
            </a:r>
            <a:r>
              <a:rPr dirty="0"/>
              <a:t> </a:t>
            </a:r>
            <a:r>
              <a:rPr lang="fr-FR" dirty="0"/>
              <a:t>c</a:t>
            </a:r>
            <a:r>
              <a:rPr dirty="0" err="1"/>
              <a:t>ible</a:t>
            </a:r>
            <a:r>
              <a:rPr dirty="0"/>
              <a:t> </a:t>
            </a:r>
            <a:r>
              <a:rPr lang="fr-FR" dirty="0"/>
              <a:t> :  </a:t>
            </a:r>
            <a:r>
              <a:rPr dirty="0" err="1"/>
              <a:t>SiteEnergyUs</a:t>
            </a:r>
            <a:r>
              <a:rPr lang="fr-FR" dirty="0"/>
              <a:t>e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394F3FC-3D55-287F-89DC-0A8CB1DCDB5E}"/>
              </a:ext>
            </a:extLst>
          </p:cNvPr>
          <p:cNvSpPr/>
          <p:nvPr/>
        </p:nvSpPr>
        <p:spPr>
          <a:xfrm>
            <a:off x="472440" y="1693948"/>
            <a:ext cx="5303520" cy="464374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Audit du dataset d’origine 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Dimensions </a:t>
            </a:r>
            <a:r>
              <a:rPr dirty="0"/>
              <a:t>: </a:t>
            </a:r>
            <a:endParaRPr lang="fr-FR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Les dimensions permettent de savoir quel est le volume total du dataset (nombre de lignes et nombre de colonnes)</a:t>
            </a:r>
            <a:r>
              <a:rPr lang="fr-FR" dirty="0">
                <a:solidFill>
                  <a:srgbClr val="64748B"/>
                </a:solidFill>
              </a:rPr>
              <a:t>. </a:t>
            </a:r>
            <a:r>
              <a:rPr lang="fr-FR" sz="11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3376 </a:t>
            </a:r>
            <a:r>
              <a:rPr lang="fr-FR" sz="1100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fr-FR" sz="11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× 46 </a:t>
            </a:r>
            <a:r>
              <a:rPr lang="fr-FR" sz="1100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  <a:endParaRPr lang="fr-FR" sz="1100" b="1" dirty="0">
              <a:solidFill>
                <a:srgbClr val="1E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Types de variables</a:t>
            </a:r>
            <a:r>
              <a:rPr dirty="0"/>
              <a:t>: </a:t>
            </a:r>
            <a:endParaRPr lang="fr-FR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Identification des différents types de variables (notamment les variables numériques et catégories).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Si ce sont des catégories , il faut aussi vérifier qu’elles ne soient pas ordinales.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Identification des </a:t>
            </a:r>
            <a:r>
              <a:rPr lang="fr-FR" dirty="0" err="1"/>
              <a:t>nulls</a:t>
            </a:r>
            <a:r>
              <a:rPr lang="fr-FR" dirty="0"/>
              <a:t> et valeurs aberrantes: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Les valeurs nulles (vides) ou valeurs qui sortent de l’ordinaire sont a identifier en prévision d’un traitement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b="0" dirty="0">
              <a:solidFill>
                <a:srgbClr val="64748B"/>
              </a:solidFill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F61DE31B-BAA8-B41C-3216-84DF64313F6D}"/>
              </a:ext>
            </a:extLst>
          </p:cNvPr>
          <p:cNvSpPr/>
          <p:nvPr/>
        </p:nvSpPr>
        <p:spPr>
          <a:xfrm>
            <a:off x="6096000" y="1691641"/>
            <a:ext cx="5726544" cy="3813048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Création d’un dataset « allégé »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Colonnes non nécessaires</a:t>
            </a:r>
            <a:r>
              <a:rPr dirty="0"/>
              <a:t>:</a:t>
            </a:r>
            <a:endParaRPr lang="fr-FR" dirty="0"/>
          </a:p>
          <a:p>
            <a:r>
              <a:rPr lang="fr-FR" sz="1200" dirty="0">
                <a:solidFill>
                  <a:srgbClr val="64748B"/>
                </a:solidFill>
                <a:latin typeface="Verdana"/>
              </a:rPr>
              <a:t>Nettoyage des colonnes qui ne seront pas utilisées pour l’entrainement des modèles, ni pour la création de nouvelles variables.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sz="900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Gestion des valeurs vides / aberrantes </a:t>
            </a:r>
            <a:r>
              <a:rPr dirty="0"/>
              <a:t>: </a:t>
            </a:r>
            <a:endParaRPr lang="fr-FR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Applications d’algorithmes pour traiter les valeurs nulles et aberrantes. </a:t>
            </a:r>
            <a:r>
              <a:rPr lang="fr-FR" sz="11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valeurs vides sur le dataset allégé étaient 17  (toutes réparties sur 3 lignes).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sz="1050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Gestion des bâtiments résidentiels  :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Suppression des lignes qui sont en rapport avec les bâtiments résidentiels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100" b="1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fr-FR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Multifamily</a:t>
            </a:r>
            <a:r>
              <a:rPr lang="fr-FR" sz="1100" b="1" dirty="0">
                <a:latin typeface="Arial" panose="020B0604020202020204" pitchFamily="34" charset="0"/>
                <a:cs typeface="Arial" panose="020B0604020202020204" pitchFamily="34" charset="0"/>
              </a:rPr>
              <a:t> LR (1-4)', '</a:t>
            </a:r>
            <a:r>
              <a:rPr lang="fr-FR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Multifamily</a:t>
            </a:r>
            <a:r>
              <a:rPr lang="fr-FR" sz="1100" b="1" dirty="0">
                <a:latin typeface="Arial" panose="020B0604020202020204" pitchFamily="34" charset="0"/>
                <a:cs typeface="Arial" panose="020B0604020202020204" pitchFamily="34" charset="0"/>
              </a:rPr>
              <a:t> MR (5-9)', '</a:t>
            </a:r>
            <a:r>
              <a:rPr lang="fr-FR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Multifamily</a:t>
            </a:r>
            <a:r>
              <a:rPr lang="fr-FR" sz="1100" b="1" dirty="0">
                <a:latin typeface="Arial" panose="020B0604020202020204" pitchFamily="34" charset="0"/>
                <a:cs typeface="Arial" panose="020B0604020202020204" pitchFamily="34" charset="0"/>
              </a:rPr>
              <a:t> HR (10+)'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b="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63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20884154-09B5-1D8B-2179-183A6913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3452" y="270522"/>
            <a:ext cx="13908423" cy="75939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2 - </a:t>
            </a:r>
            <a:r>
              <a:rPr dirty="0" err="1">
                <a:solidFill>
                  <a:schemeClr val="bg1"/>
                </a:solidFill>
              </a:rPr>
              <a:t>Analyse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fr-FR" dirty="0">
                <a:solidFill>
                  <a:schemeClr val="bg1"/>
                </a:solidFill>
              </a:rPr>
              <a:t>Exploratoire (EDA)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5088B0-7F11-CF99-4A0B-4F182D40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E1C608-D881-933F-0365-7B072C50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DB847431-1C1E-E1F8-2D00-E6CEF862DAB3}"/>
              </a:ext>
            </a:extLst>
          </p:cNvPr>
          <p:cNvSpPr/>
          <p:nvPr/>
        </p:nvSpPr>
        <p:spPr>
          <a:xfrm>
            <a:off x="624840" y="1846349"/>
            <a:ext cx="5303520" cy="44422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Mise en corrélation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Pour identifier les variables qui sont corrélées , j’ai utilisé une « </a:t>
            </a:r>
            <a:r>
              <a:rPr lang="fr-FR" b="0" dirty="0" err="1">
                <a:solidFill>
                  <a:srgbClr val="64748B"/>
                </a:solidFill>
              </a:rPr>
              <a:t>heatmap</a:t>
            </a:r>
            <a:r>
              <a:rPr lang="fr-FR" b="0" dirty="0">
                <a:solidFill>
                  <a:srgbClr val="64748B"/>
                </a:solidFill>
              </a:rPr>
              <a:t> » qui permet de voir quelles sont les variables corrélées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b="0" dirty="0">
              <a:solidFill>
                <a:srgbClr val="64748B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10C555-B5EE-CC81-A8F9-DAACE4934506}"/>
              </a:ext>
            </a:extLst>
          </p:cNvPr>
          <p:cNvSpPr/>
          <p:nvPr/>
        </p:nvSpPr>
        <p:spPr>
          <a:xfrm>
            <a:off x="6263642" y="1846349"/>
            <a:ext cx="5303520" cy="444226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Mise en relation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Avec la corrélation j’ai pu identifier des variables qui sont en relation.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050" dirty="0" err="1">
                <a:solidFill>
                  <a:srgbClr val="1E293B"/>
                </a:solidFill>
                <a:latin typeface="Verdana"/>
              </a:rPr>
              <a:t>SiteEnergyUse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(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kBtu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) =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050" dirty="0" err="1">
                <a:solidFill>
                  <a:srgbClr val="1E293B"/>
                </a:solidFill>
                <a:latin typeface="Verdana"/>
              </a:rPr>
              <a:t>SteamUse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(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kBtu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) + 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Electricity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(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kBtu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) + 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NaturalGas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(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kBtu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)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>
                <a:solidFill>
                  <a:srgbClr val="64748B"/>
                </a:solidFill>
              </a:rPr>
              <a:t> </a:t>
            </a:r>
            <a:endParaRPr lang="fr-FR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050" dirty="0" err="1">
                <a:solidFill>
                  <a:srgbClr val="1E293B"/>
                </a:solidFill>
                <a:latin typeface="Verdana"/>
              </a:rPr>
              <a:t>SiteEUI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(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kBtu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/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sf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) =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050" dirty="0" err="1">
                <a:solidFill>
                  <a:srgbClr val="1E293B"/>
                </a:solidFill>
                <a:latin typeface="Verdana"/>
              </a:rPr>
              <a:t>SiteEnergyUse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(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kBtu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) / </a:t>
            </a:r>
            <a:r>
              <a:rPr lang="fr-FR" sz="1050" dirty="0" err="1">
                <a:solidFill>
                  <a:srgbClr val="1E293B"/>
                </a:solidFill>
                <a:latin typeface="Verdana"/>
              </a:rPr>
              <a:t>PropertyGFATotal</a:t>
            </a:r>
            <a:endParaRPr lang="fr-FR" sz="1050" dirty="0">
              <a:solidFill>
                <a:srgbClr val="1E293B"/>
              </a:solidFill>
              <a:latin typeface="Verdana"/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sz="1050" dirty="0">
              <a:solidFill>
                <a:srgbClr val="1E293B"/>
              </a:solidFill>
              <a:latin typeface="Verdana"/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050" dirty="0" err="1">
                <a:solidFill>
                  <a:srgbClr val="1E293B"/>
                </a:solidFill>
                <a:latin typeface="Verdana"/>
              </a:rPr>
              <a:t>PropertyGFATotal</a:t>
            </a:r>
            <a:r>
              <a:rPr lang="fr-FR" sz="1050" dirty="0">
                <a:solidFill>
                  <a:srgbClr val="1E293B"/>
                </a:solidFill>
                <a:latin typeface="Verdana"/>
              </a:rPr>
              <a:t> =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050" b="1" dirty="0" err="1">
                <a:solidFill>
                  <a:srgbClr val="1E293B"/>
                </a:solidFill>
                <a:latin typeface="Verdana"/>
              </a:rPr>
              <a:t>PropertyGFAParking</a:t>
            </a:r>
            <a:r>
              <a:rPr lang="fr-FR" sz="1050" b="1" dirty="0">
                <a:solidFill>
                  <a:srgbClr val="1E293B"/>
                </a:solidFill>
                <a:latin typeface="Verdana"/>
              </a:rPr>
              <a:t> + </a:t>
            </a:r>
            <a:r>
              <a:rPr lang="fr-FR" sz="1050" b="1" dirty="0" err="1">
                <a:solidFill>
                  <a:srgbClr val="1E293B"/>
                </a:solidFill>
                <a:latin typeface="Verdana"/>
              </a:rPr>
              <a:t>PropertyGFABuilding</a:t>
            </a:r>
            <a:r>
              <a:rPr lang="fr-FR" sz="1050" b="1" dirty="0">
                <a:solidFill>
                  <a:srgbClr val="1E293B"/>
                </a:solidFill>
                <a:latin typeface="Verdana"/>
              </a:rPr>
              <a:t>(s)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sz="1050" dirty="0">
              <a:solidFill>
                <a:srgbClr val="1E293B"/>
              </a:solidFill>
              <a:latin typeface="Verdana"/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b="0" dirty="0">
              <a:solidFill>
                <a:srgbClr val="64748B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C78FA9-1EE8-0C2B-06F0-FD5A09463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674" y="3329532"/>
            <a:ext cx="3488990" cy="2872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1F12AFE6-32C2-7324-83B2-713A9FFB2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5796" y="142521"/>
            <a:ext cx="13908423" cy="7593918"/>
          </a:xfrm>
          <a:prstGeom prst="rect">
            <a:avLst/>
          </a:prstGeom>
        </p:spPr>
      </p:pic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94345C7D-2306-2ED8-8013-11CD7317E9C1}"/>
              </a:ext>
            </a:extLst>
          </p:cNvPr>
          <p:cNvSpPr/>
          <p:nvPr/>
        </p:nvSpPr>
        <p:spPr>
          <a:xfrm>
            <a:off x="524396" y="3939480"/>
            <a:ext cx="10988041" cy="246466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Création des </a:t>
            </a:r>
            <a:r>
              <a:rPr lang="fr-FR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Features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3 - </a:t>
            </a:r>
            <a:r>
              <a:rPr dirty="0" err="1">
                <a:solidFill>
                  <a:schemeClr val="bg1"/>
                </a:solidFill>
              </a:rPr>
              <a:t>Création</a:t>
            </a:r>
            <a:r>
              <a:rPr dirty="0">
                <a:solidFill>
                  <a:schemeClr val="bg1"/>
                </a:solidFill>
              </a:rPr>
              <a:t> de Variables &amp; </a:t>
            </a:r>
            <a:r>
              <a:rPr dirty="0" err="1">
                <a:solidFill>
                  <a:schemeClr val="bg1"/>
                </a:solidFill>
              </a:rPr>
              <a:t>Encodage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Normalisation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86A0C1-4321-F803-A8F1-C9000FDD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93294"/>
            <a:ext cx="2895600" cy="365125"/>
          </a:xfrm>
        </p:spPr>
        <p:txBody>
          <a:bodyPr/>
          <a:lstStyle/>
          <a:p>
            <a:r>
              <a:rPr lang="en-US" dirty="0" err="1"/>
              <a:t>Modélisation</a:t>
            </a:r>
            <a:r>
              <a:rPr lang="en-US" dirty="0"/>
              <a:t> </a:t>
            </a:r>
            <a:r>
              <a:rPr lang="en-US" dirty="0" err="1"/>
              <a:t>Prédictive</a:t>
            </a:r>
            <a:r>
              <a:rPr lang="en-US" dirty="0"/>
              <a:t>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D045F2-6E5B-68A2-C23E-DB335C0B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94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3E420A4F-E5FB-C008-F61D-932B5C859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796012"/>
              </p:ext>
            </p:extLst>
          </p:nvPr>
        </p:nvGraphicFramePr>
        <p:xfrm>
          <a:off x="1187741" y="4655337"/>
          <a:ext cx="981651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652">
                  <a:extLst>
                    <a:ext uri="{9D8B030D-6E8A-4147-A177-3AD203B41FA5}">
                      <a16:colId xmlns:a16="http://schemas.microsoft.com/office/drawing/2014/main" val="1402259042"/>
                    </a:ext>
                  </a:extLst>
                </a:gridCol>
                <a:gridCol w="52241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Nom complet  de la feature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Code de la feature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Description de la feature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FE1_is_multi_type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FE1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kern="1200" dirty="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Permet de savoir si un bâtiment est multi usage ou non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5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FE2_year_in_activity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FE2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Calculer l'âge des bâtiments (permet de savoir si un vieux bâtiment a tendance a consommer davantage)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5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FE3_floor_area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FE3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Permet de connaitre la superficie d'un étage (indication sur la consommation)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878549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A816A6-D961-C09A-BEFE-E2E694A82194}"/>
              </a:ext>
            </a:extLst>
          </p:cNvPr>
          <p:cNvSpPr/>
          <p:nvPr/>
        </p:nvSpPr>
        <p:spPr>
          <a:xfrm>
            <a:off x="6126480" y="1599794"/>
            <a:ext cx="5303520" cy="2267275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Normalisation de toutes les variables numériques  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endParaRPr sz="200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Les variables numériques ont été normalisées avec la </a:t>
            </a:r>
            <a:r>
              <a:rPr lang="fr-FR" b="0" dirty="0" err="1">
                <a:solidFill>
                  <a:srgbClr val="64748B"/>
                </a:solidFill>
              </a:rPr>
              <a:t>methode</a:t>
            </a:r>
            <a:r>
              <a:rPr lang="fr-FR" b="0" dirty="0">
                <a:solidFill>
                  <a:srgbClr val="64748B"/>
                </a:solidFill>
              </a:rPr>
              <a:t> </a:t>
            </a:r>
            <a:r>
              <a:rPr lang="fr-FR" sz="1200" dirty="0" err="1">
                <a:solidFill>
                  <a:srgbClr val="1E293B"/>
                </a:solidFill>
                <a:latin typeface="Verdana"/>
              </a:rPr>
              <a:t>MinMaxScaler</a:t>
            </a:r>
            <a:r>
              <a:rPr lang="fr-FR" sz="1200" dirty="0">
                <a:solidFill>
                  <a:srgbClr val="1E293B"/>
                </a:solidFill>
                <a:latin typeface="Verdana"/>
              </a:rPr>
              <a:t>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sz="800" dirty="0">
              <a:solidFill>
                <a:srgbClr val="1E293B"/>
              </a:solidFill>
              <a:latin typeface="Verdana"/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sz="1200" dirty="0">
                <a:solidFill>
                  <a:srgbClr val="1E293B"/>
                </a:solidFill>
                <a:latin typeface="Verdana"/>
              </a:rPr>
              <a:t>Attention : pour faire le </a:t>
            </a:r>
            <a:r>
              <a:rPr lang="fr-FR" sz="1200" dirty="0" err="1">
                <a:solidFill>
                  <a:srgbClr val="1E293B"/>
                </a:solidFill>
                <a:latin typeface="Verdana"/>
              </a:rPr>
              <a:t>MinMaxScaler</a:t>
            </a:r>
            <a:r>
              <a:rPr lang="fr-FR" sz="1200" dirty="0">
                <a:solidFill>
                  <a:srgbClr val="1E293B"/>
                </a:solidFill>
                <a:latin typeface="Verdana"/>
              </a:rPr>
              <a:t> il faut d’abord </a:t>
            </a:r>
            <a:r>
              <a:rPr lang="fr-FR" sz="1200" dirty="0" err="1">
                <a:solidFill>
                  <a:srgbClr val="1E293B"/>
                </a:solidFill>
                <a:latin typeface="Verdana"/>
              </a:rPr>
              <a:t>spliter</a:t>
            </a:r>
            <a:r>
              <a:rPr lang="fr-FR" sz="1200" dirty="0">
                <a:solidFill>
                  <a:srgbClr val="1E293B"/>
                </a:solidFill>
                <a:latin typeface="Verdana"/>
              </a:rPr>
              <a:t> les datasets X et y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endParaRPr lang="fr-FR" sz="1200" dirty="0">
              <a:solidFill>
                <a:srgbClr val="1E293B"/>
              </a:solidFill>
              <a:latin typeface="Verdana"/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 </a:t>
            </a:r>
            <a:endParaRPr b="0" dirty="0">
              <a:solidFill>
                <a:srgbClr val="64748B"/>
              </a:solidFill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AE1A3D8-C2D2-E5C7-9178-E37ED241D997}"/>
              </a:ext>
            </a:extLst>
          </p:cNvPr>
          <p:cNvSpPr/>
          <p:nvPr/>
        </p:nvSpPr>
        <p:spPr>
          <a:xfrm>
            <a:off x="472440" y="1604790"/>
            <a:ext cx="5303520" cy="226227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Encodage de la variable catégorielle 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endParaRPr sz="1050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La variable « </a:t>
            </a:r>
            <a:r>
              <a:rPr lang="fr-FR" b="0" dirty="0" err="1">
                <a:solidFill>
                  <a:srgbClr val="64748B"/>
                </a:solidFill>
              </a:rPr>
              <a:t>neighborhood</a:t>
            </a:r>
            <a:r>
              <a:rPr lang="fr-FR" b="0" dirty="0">
                <a:solidFill>
                  <a:srgbClr val="64748B"/>
                </a:solidFill>
              </a:rPr>
              <a:t> » est une catégorie non ordinale donc j’ai utilisé la librairie </a:t>
            </a:r>
            <a:r>
              <a:rPr lang="fr-FR" sz="1200" b="1" dirty="0" err="1">
                <a:solidFill>
                  <a:srgbClr val="1E293B"/>
                </a:solidFill>
                <a:latin typeface="Verdana"/>
              </a:rPr>
              <a:t>Category_Encoders</a:t>
            </a:r>
            <a:r>
              <a:rPr lang="fr-FR" sz="1200" b="1" dirty="0">
                <a:solidFill>
                  <a:srgbClr val="1E293B"/>
                </a:solidFill>
                <a:latin typeface="Verdana"/>
              </a:rPr>
              <a:t>.</a:t>
            </a:r>
            <a:endParaRPr lang="fr-FR" sz="1200" dirty="0">
              <a:solidFill>
                <a:srgbClr val="1E293B"/>
              </a:solidFill>
              <a:latin typeface="Verdana"/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Ca a pour effet de créer 4 nouvelles colonnes pour l’encodage binaire de chaque catégorie </a:t>
            </a:r>
            <a:endParaRPr b="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70E9E33-05C0-68E3-7249-6478F7E65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085" y="202133"/>
            <a:ext cx="13908423" cy="75939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2581" y="421639"/>
            <a:ext cx="1106054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4 - Validation Croisée </a:t>
            </a:r>
            <a:r>
              <a:rPr dirty="0">
                <a:solidFill>
                  <a:schemeClr val="bg1"/>
                </a:solidFill>
              </a:rPr>
              <a:t>&amp;</a:t>
            </a:r>
            <a:r>
              <a:rPr lang="fr-FR" dirty="0">
                <a:solidFill>
                  <a:schemeClr val="bg1"/>
                </a:solidFill>
              </a:rPr>
              <a:t> Entraînement des modèles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0892D9C-B075-B622-4BC6-F02684AC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Modélisation</a:t>
            </a:r>
            <a:r>
              <a:rPr lang="en-US" dirty="0"/>
              <a:t> </a:t>
            </a:r>
            <a:r>
              <a:rPr lang="en-US" dirty="0" err="1"/>
              <a:t>Prédictive</a:t>
            </a:r>
            <a:r>
              <a:rPr lang="en-US" dirty="0"/>
              <a:t> (Machine Learning)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19E99-CB2F-E13D-7FC0-AFF2BBDD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B85D28-EB82-7BD4-353A-82183CD7B4DD}"/>
              </a:ext>
            </a:extLst>
          </p:cNvPr>
          <p:cNvSpPr/>
          <p:nvPr/>
        </p:nvSpPr>
        <p:spPr>
          <a:xfrm>
            <a:off x="523937" y="1615774"/>
            <a:ext cx="5943770" cy="323489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Validation croisée 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Avant l’entraînement du modèle</a:t>
            </a:r>
            <a:r>
              <a:rPr dirty="0"/>
              <a:t>: </a:t>
            </a:r>
            <a:endParaRPr lang="fr-FR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Utilisé travailler sur les documents de prototypage des modèles</a:t>
            </a:r>
            <a:r>
              <a:rPr lang="fr-FR" dirty="0">
                <a:solidFill>
                  <a:srgbClr val="64748B"/>
                </a:solidFill>
              </a:rPr>
              <a:t>.</a:t>
            </a:r>
            <a:endParaRPr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Paramètres </a:t>
            </a:r>
            <a:r>
              <a:rPr dirty="0"/>
              <a:t>:</a:t>
            </a:r>
            <a:r>
              <a:rPr lang="fr-FR" dirty="0"/>
              <a:t>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1 - Modèle de la validation croisée 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2 - Cv= 5 (découpe le </a:t>
            </a:r>
            <a:r>
              <a:rPr lang="fr-FR" b="0" dirty="0" err="1">
                <a:solidFill>
                  <a:srgbClr val="64748B"/>
                </a:solidFill>
              </a:rPr>
              <a:t>X_train</a:t>
            </a:r>
            <a:r>
              <a:rPr lang="fr-FR" b="0" dirty="0">
                <a:solidFill>
                  <a:srgbClr val="64748B"/>
                </a:solidFill>
              </a:rPr>
              <a:t> en 5 parties et fait la validation autant de fois qu’il y a de parties)</a:t>
            </a:r>
            <a:endParaRPr lang="fr-FR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3 – </a:t>
            </a:r>
            <a:r>
              <a:rPr lang="fr-FR" b="0" dirty="0" err="1">
                <a:solidFill>
                  <a:srgbClr val="64748B"/>
                </a:solidFill>
              </a:rPr>
              <a:t>Scoring</a:t>
            </a:r>
            <a:r>
              <a:rPr lang="fr-FR" b="0" dirty="0">
                <a:solidFill>
                  <a:srgbClr val="64748B"/>
                </a:solidFill>
              </a:rPr>
              <a:t> Définit les scores que l’on souhaite avoir a la sortie de la validation croisée 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F8ECE68-176B-EADF-CAD1-E600EFC60CAA}"/>
              </a:ext>
            </a:extLst>
          </p:cNvPr>
          <p:cNvSpPr/>
          <p:nvPr/>
        </p:nvSpPr>
        <p:spPr>
          <a:xfrm>
            <a:off x="6553200" y="2732024"/>
            <a:ext cx="5303520" cy="253413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Georgia"/>
              </a:rPr>
              <a:t>Exemple du cross_validate sur le modèle randomForest</a:t>
            </a:r>
            <a:endParaRPr sz="1600" b="1" dirty="0">
              <a:solidFill>
                <a:schemeClr val="accent6">
                  <a:lumMod val="75000"/>
                </a:schemeClr>
              </a:solidFill>
              <a:latin typeface="Georgia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8101BED-D35F-9B6A-E144-72394141F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857" y="3865430"/>
            <a:ext cx="4926206" cy="985241"/>
          </a:xfrm>
          <a:prstGeom prst="rect">
            <a:avLst/>
          </a:prstGeom>
        </p:spPr>
      </p:pic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D931AC01-E691-BCDE-E873-57FBE69AE2B4}"/>
              </a:ext>
            </a:extLst>
          </p:cNvPr>
          <p:cNvSpPr/>
          <p:nvPr/>
        </p:nvSpPr>
        <p:spPr>
          <a:xfrm>
            <a:off x="523937" y="5018048"/>
            <a:ext cx="5943770" cy="134025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Entraînement du modèle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Après la validation croisée</a:t>
            </a:r>
            <a:r>
              <a:rPr dirty="0"/>
              <a:t>: </a:t>
            </a:r>
            <a:endParaRPr lang="fr-FR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Les scores générés peuvent être comparés avec la validation croisée</a:t>
            </a:r>
            <a:endParaRPr b="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C9373-051F-2EA0-7C4E-ED0D0A0E1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303665B-4065-21FC-6B55-662EEADE2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1012" y="150288"/>
            <a:ext cx="13908423" cy="75939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BF23D3-E78C-16C6-15A6-2603EEFD0283}"/>
              </a:ext>
            </a:extLst>
          </p:cNvPr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E540ED-8576-691E-8C45-A24DFA9504B3}"/>
              </a:ext>
            </a:extLst>
          </p:cNvPr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EAE68-BA05-DADE-7DD1-233B83260D2B}"/>
              </a:ext>
            </a:extLst>
          </p:cNvPr>
          <p:cNvSpPr txBox="1"/>
          <p:nvPr/>
        </p:nvSpPr>
        <p:spPr>
          <a:xfrm>
            <a:off x="731520" y="320040"/>
            <a:ext cx="10698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5 - Scores a l’issue des entraînements de modèles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2C1043E0-BA57-F17E-5660-7FF36175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Modélisation</a:t>
            </a:r>
            <a:r>
              <a:rPr lang="en-US" dirty="0"/>
              <a:t> </a:t>
            </a:r>
            <a:r>
              <a:rPr lang="en-US" dirty="0" err="1"/>
              <a:t>Prédictive</a:t>
            </a:r>
            <a:r>
              <a:rPr lang="en-US" dirty="0"/>
              <a:t> (Machine Learning)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D34DF3B-A287-DBCC-4314-240B5CF6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24982C6D-FA47-CB77-65A5-380953871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46844"/>
              </p:ext>
            </p:extLst>
          </p:nvPr>
        </p:nvGraphicFramePr>
        <p:xfrm>
          <a:off x="312234" y="1490920"/>
          <a:ext cx="11630720" cy="14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536">
                  <a:extLst>
                    <a:ext uri="{9D8B030D-6E8A-4147-A177-3AD203B41FA5}">
                      <a16:colId xmlns:a16="http://schemas.microsoft.com/office/drawing/2014/main" val="1402259042"/>
                    </a:ext>
                  </a:extLst>
                </a:gridCol>
                <a:gridCol w="1745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07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dirty="0" err="1"/>
                        <a:t>Modèle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Testé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dirty="0"/>
                        <a:t>R² Score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predict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dirty="0"/>
                        <a:t>RMSE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predict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dirty="0"/>
                        <a:t>MAE </a:t>
                      </a:r>
                      <a:r>
                        <a:rPr lang="fr-FR" dirty="0" err="1"/>
                        <a:t>predict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Statut / Décision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41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dirty="0"/>
                        <a:t>Regression </a:t>
                      </a:r>
                      <a:r>
                        <a:rPr lang="fr-FR" dirty="0"/>
                        <a:t>Linéaire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0.413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1.007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0.767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dirty="0" err="1"/>
                        <a:t>Modèl</a:t>
                      </a:r>
                      <a:r>
                        <a:rPr lang="fr-FR" dirty="0"/>
                        <a:t>e trop simple pour le dataset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0.565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0.867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0.645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Meilleur modèle (mais résultats moyens)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SVR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0.516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0.914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0.689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Meilleurs scores mais pas le meilleur modèle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878549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7F939054-B0D6-36F3-9DB2-5BBE5BC4E1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" t="1309"/>
          <a:stretch>
            <a:fillRect/>
          </a:stretch>
        </p:blipFill>
        <p:spPr>
          <a:xfrm>
            <a:off x="988460" y="3111190"/>
            <a:ext cx="10215080" cy="315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8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D7271C20-9765-CD4C-BD89-07F1F2933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312" y="255674"/>
            <a:ext cx="13908423" cy="75939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6 – </a:t>
            </a:r>
            <a:r>
              <a:rPr dirty="0" err="1">
                <a:solidFill>
                  <a:schemeClr val="bg1"/>
                </a:solidFill>
              </a:rPr>
              <a:t>Optimisation</a:t>
            </a:r>
            <a:r>
              <a:rPr lang="fr-FR" dirty="0">
                <a:solidFill>
                  <a:schemeClr val="bg1"/>
                </a:solidFill>
              </a:rPr>
              <a:t> du modèle</a:t>
            </a:r>
            <a:r>
              <a:rPr dirty="0">
                <a:solidFill>
                  <a:schemeClr val="bg1"/>
                </a:solidFill>
              </a:rPr>
              <a:t> &amp; M</a:t>
            </a:r>
            <a:r>
              <a:rPr lang="fr-FR" dirty="0">
                <a:solidFill>
                  <a:schemeClr val="bg1"/>
                </a:solidFill>
              </a:rPr>
              <a:t>e</a:t>
            </a:r>
            <a:r>
              <a:rPr dirty="0" err="1">
                <a:solidFill>
                  <a:schemeClr val="bg1"/>
                </a:solidFill>
              </a:rPr>
              <a:t>triques</a:t>
            </a:r>
            <a:r>
              <a:rPr dirty="0">
                <a:solidFill>
                  <a:schemeClr val="bg1"/>
                </a:solidFill>
              </a:rPr>
              <a:t> de Performance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1B3FC0-400B-BB3A-C0FD-28896B03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0DA18C-A112-C469-7514-C26DF018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A9BA7211-979A-8679-63AA-F7882E9CB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698716"/>
              </p:ext>
            </p:extLst>
          </p:nvPr>
        </p:nvGraphicFramePr>
        <p:xfrm>
          <a:off x="696579" y="4638774"/>
          <a:ext cx="10798841" cy="1443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3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009">
                  <a:extLst>
                    <a:ext uri="{9D8B030D-6E8A-4147-A177-3AD203B41FA5}">
                      <a16:colId xmlns:a16="http://schemas.microsoft.com/office/drawing/2014/main" val="1402259042"/>
                    </a:ext>
                  </a:extLst>
                </a:gridCol>
                <a:gridCol w="4858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89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dirty="0" err="1"/>
                        <a:t>Modèle</a:t>
                      </a:r>
                      <a:r>
                        <a:rPr dirty="0"/>
                        <a:t> </a:t>
                      </a:r>
                      <a:r>
                        <a:rPr lang="fr-FR" dirty="0"/>
                        <a:t>et optimisations </a:t>
                      </a:r>
                      <a:r>
                        <a:rPr lang="fr-FR" dirty="0" err="1"/>
                        <a:t>grid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search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dirty="0"/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Commentaires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89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Random Forest (Défaut)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1E293B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0.565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Résultats sans aucune optimisation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9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  <a:latin typeface="Verdana"/>
                        </a:defRPr>
                      </a:pPr>
                      <a:r>
                        <a:rPr lang="fr-FR" dirty="0" err="1"/>
                        <a:t>Grid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Search</a:t>
                      </a:r>
                      <a:r>
                        <a:rPr lang="fr-FR" dirty="0"/>
                        <a:t> (paramètres par défaut)</a:t>
                      </a:r>
                      <a:endParaRPr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0D9488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0.577</a:t>
                      </a:r>
                      <a:endParaRPr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Léger gain </a:t>
                      </a:r>
                      <a:endParaRPr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89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  <a:latin typeface="Verdana"/>
                        </a:defRPr>
                      </a:pPr>
                      <a:r>
                        <a:rPr lang="fr-FR" dirty="0" err="1"/>
                        <a:t>Grid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Search</a:t>
                      </a:r>
                      <a:r>
                        <a:rPr lang="fr-FR" dirty="0"/>
                        <a:t> (optimisé)</a:t>
                      </a:r>
                      <a:endParaRPr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Verdana"/>
                        </a:defRPr>
                      </a:pPr>
                      <a:r>
                        <a:rPr lang="fr-FR" sz="1200" b="0" i="0" kern="1200" dirty="0">
                          <a:solidFill>
                            <a:srgbClr val="0D9488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0.579</a:t>
                      </a:r>
                      <a:endParaRPr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Léger gain également</a:t>
                      </a:r>
                      <a:endParaRPr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760284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8CB616-CC64-FC93-D9DB-0CEC31682246}"/>
              </a:ext>
            </a:extLst>
          </p:cNvPr>
          <p:cNvSpPr/>
          <p:nvPr/>
        </p:nvSpPr>
        <p:spPr>
          <a:xfrm>
            <a:off x="472440" y="1783080"/>
            <a:ext cx="5303520" cy="2130829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Paramètres </a:t>
            </a:r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grid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search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(défaut)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endParaRPr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4ED312DE-FE0D-13D3-0808-A2A3D337849C}"/>
              </a:ext>
            </a:extLst>
          </p:cNvPr>
          <p:cNvSpPr/>
          <p:nvPr/>
        </p:nvSpPr>
        <p:spPr>
          <a:xfrm>
            <a:off x="6191900" y="1783080"/>
            <a:ext cx="5303520" cy="218162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Paramètres </a:t>
            </a:r>
            <a:r>
              <a:rPr lang="fr-FR" dirty="0" err="1">
                <a:solidFill>
                  <a:schemeClr val="accent3">
                    <a:lumMod val="75000"/>
                  </a:schemeClr>
                </a:solidFill>
              </a:rPr>
              <a:t>grid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3">
                    <a:lumMod val="75000"/>
                  </a:schemeClr>
                </a:solidFill>
              </a:rPr>
              <a:t>search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 (optimisé)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D0940D-29A3-7F95-8EBD-77B430E55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556575"/>
            <a:ext cx="3352800" cy="12192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2B748BA-6EE7-4482-9F08-FDB3E80CD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060" y="2578108"/>
            <a:ext cx="35052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BC1669F-0186-F76E-6300-33DC9385D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4412" y="136525"/>
            <a:ext cx="13908423" cy="75939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5" y="7112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2336" y="347308"/>
            <a:ext cx="1102702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7 - Interprétation des résultats </a:t>
            </a:r>
            <a:r>
              <a:rPr dirty="0">
                <a:solidFill>
                  <a:schemeClr val="bg1"/>
                </a:solidFill>
              </a:rPr>
              <a:t>&amp; Feature Importance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AA2C0B-0343-0C8E-0A7E-F63A3CB1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E62298-ADC2-9685-A94A-56FA7803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4E68AB54-D8CB-5878-00E6-0C8EBA95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717561"/>
              </p:ext>
            </p:extLst>
          </p:nvPr>
        </p:nvGraphicFramePr>
        <p:xfrm>
          <a:off x="582337" y="4691415"/>
          <a:ext cx="11027022" cy="146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317">
                  <a:extLst>
                    <a:ext uri="{9D8B030D-6E8A-4147-A177-3AD203B41FA5}">
                      <a16:colId xmlns:a16="http://schemas.microsoft.com/office/drawing/2014/main" val="1402259042"/>
                    </a:ext>
                  </a:extLst>
                </a:gridCol>
              </a:tblGrid>
              <a:tr h="31130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Nom complet  de la feature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dirty="0"/>
                        <a:t>Importance %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80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 dirty="0" err="1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PropertyGFATotal</a:t>
                      </a:r>
                      <a:endParaRPr sz="1200" b="1" kern="1200" dirty="0">
                        <a:solidFill>
                          <a:srgbClr val="1E293B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 dirty="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81.9 %</a:t>
                      </a:r>
                      <a:endParaRPr sz="1200" b="1" kern="1200" dirty="0">
                        <a:solidFill>
                          <a:srgbClr val="1E293B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8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 dirty="0" err="1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PropertyGFABuilding</a:t>
                      </a:r>
                      <a:r>
                        <a:rPr lang="fr-FR" sz="1200" b="1" kern="1200" dirty="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(s)</a:t>
                      </a:r>
                      <a:endParaRPr sz="1200" b="1" kern="1200" dirty="0">
                        <a:solidFill>
                          <a:srgbClr val="1E293B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 dirty="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9.6 %</a:t>
                      </a:r>
                      <a:endParaRPr sz="1200" b="1" kern="1200" dirty="0">
                        <a:solidFill>
                          <a:srgbClr val="1E293B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8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FE2_year_in_activity </a:t>
                      </a:r>
                      <a:endParaRPr lang="fr-FR" sz="1200" b="1" kern="1200" dirty="0">
                        <a:solidFill>
                          <a:srgbClr val="1E293B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 dirty="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3.3 %</a:t>
                      </a:r>
                      <a:endParaRPr sz="1200" b="1" kern="1200" dirty="0">
                        <a:solidFill>
                          <a:srgbClr val="1E293B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878549"/>
                  </a:ext>
                </a:extLst>
              </a:tr>
              <a:tr h="2918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 dirty="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FE3_floor_area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sz="1200" b="1" kern="1200" dirty="0">
                          <a:solidFill>
                            <a:srgbClr val="1E293B"/>
                          </a:solidFill>
                          <a:latin typeface="Verdana"/>
                          <a:ea typeface="+mn-ea"/>
                          <a:cs typeface="+mn-cs"/>
                        </a:rPr>
                        <a:t>2.4 %</a:t>
                      </a:r>
                      <a:endParaRPr sz="1200" b="1" kern="1200" dirty="0">
                        <a:solidFill>
                          <a:srgbClr val="1E293B"/>
                        </a:solidFill>
                        <a:latin typeface="Verda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525554"/>
                  </a:ext>
                </a:extLst>
              </a:tr>
            </a:tbl>
          </a:graphicData>
        </a:graphic>
      </p:graphicFrame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DE6BE183-514E-F5A1-DF9A-AB0EAEF8ED20}"/>
              </a:ext>
            </a:extLst>
          </p:cNvPr>
          <p:cNvSpPr/>
          <p:nvPr/>
        </p:nvSpPr>
        <p:spPr>
          <a:xfrm>
            <a:off x="582335" y="1825974"/>
            <a:ext cx="11027021" cy="241582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Interprétation des scores 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dirty="0"/>
              <a:t>Le constat </a:t>
            </a:r>
            <a:r>
              <a:rPr dirty="0"/>
              <a:t>: </a:t>
            </a:r>
            <a:endParaRPr lang="fr-FR" dirty="0"/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lang="fr-FR" b="0" dirty="0">
                <a:solidFill>
                  <a:srgbClr val="64748B"/>
                </a:solidFill>
              </a:rPr>
              <a:t>Les modèles qui sont capables de traiter des datasets non linéaires ont eu de meilleurs résultats. </a:t>
            </a:r>
            <a:br>
              <a:rPr lang="fr-FR" b="0" dirty="0">
                <a:solidFill>
                  <a:srgbClr val="64748B"/>
                </a:solidFill>
              </a:rPr>
            </a:br>
            <a:r>
              <a:rPr lang="fr-FR" b="0" dirty="0">
                <a:solidFill>
                  <a:srgbClr val="64748B"/>
                </a:solidFill>
              </a:rPr>
              <a:t>Cependant, même avec le meilleur modèle les scores ne sont pas parfaits.</a:t>
            </a:r>
            <a:br>
              <a:rPr lang="fr-FR" b="0" dirty="0">
                <a:solidFill>
                  <a:srgbClr val="64748B"/>
                </a:solidFill>
              </a:rPr>
            </a:br>
            <a:br>
              <a:rPr lang="fr-FR" b="0" dirty="0">
                <a:solidFill>
                  <a:srgbClr val="64748B"/>
                </a:solidFill>
              </a:rPr>
            </a:br>
            <a:r>
              <a:rPr lang="fr-FR" b="0" dirty="0">
                <a:solidFill>
                  <a:srgbClr val="64748B"/>
                </a:solidFill>
              </a:rPr>
              <a:t>Quel que soit le modèle , les score R2 sont tous assez proches. </a:t>
            </a:r>
            <a:br>
              <a:rPr lang="fr-FR" b="0" dirty="0">
                <a:solidFill>
                  <a:srgbClr val="64748B"/>
                </a:solidFill>
              </a:rPr>
            </a:br>
            <a:r>
              <a:rPr lang="fr-FR" b="0" dirty="0">
                <a:solidFill>
                  <a:srgbClr val="64748B"/>
                </a:solidFill>
              </a:rPr>
              <a:t>Cela montre que tous les modèles ne font pas d’</a:t>
            </a:r>
            <a:r>
              <a:rPr lang="fr-FR" b="0" dirty="0" err="1">
                <a:solidFill>
                  <a:srgbClr val="64748B"/>
                </a:solidFill>
              </a:rPr>
              <a:t>overfitting</a:t>
            </a:r>
            <a:r>
              <a:rPr lang="fr-FR" b="0" dirty="0">
                <a:solidFill>
                  <a:srgbClr val="64748B"/>
                </a:solidFill>
              </a:rPr>
              <a:t> (surapprentissage) et que les entraînements, l’apprentissage, les validations croisées, et l’optimisation ne déstabilisent pas les modèles.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8F8A971E-9B16-A736-312A-F1FE11658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3452" y="180681"/>
            <a:ext cx="13908423" cy="75939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53312"/>
            <a:ext cx="1219169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fr-FR" dirty="0">
                <a:solidFill>
                  <a:schemeClr val="bg1"/>
                </a:solidFill>
              </a:rPr>
              <a:t>8 - </a:t>
            </a:r>
            <a:r>
              <a:rPr dirty="0">
                <a:solidFill>
                  <a:schemeClr val="bg1"/>
                </a:solidFill>
              </a:rPr>
              <a:t>Choix du </a:t>
            </a:r>
            <a:r>
              <a:rPr lang="fr-FR" dirty="0">
                <a:solidFill>
                  <a:schemeClr val="bg1"/>
                </a:solidFill>
              </a:rPr>
              <a:t>m</a:t>
            </a:r>
            <a:r>
              <a:rPr dirty="0" err="1">
                <a:solidFill>
                  <a:schemeClr val="bg1"/>
                </a:solidFill>
              </a:rPr>
              <a:t>odèle</a:t>
            </a:r>
            <a:r>
              <a:rPr lang="fr-FR" dirty="0">
                <a:solidFill>
                  <a:schemeClr val="bg1"/>
                </a:solidFill>
              </a:rPr>
              <a:t> a déployer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21D419-74FD-651D-E247-CC66EBD7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Modélisation Prédictive (Machine Learning)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72EEE3-396E-42BC-E034-236DA427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9EF0016F-9A61-DCC1-3A3F-DF1C8A2590D8}"/>
              </a:ext>
            </a:extLst>
          </p:cNvPr>
          <p:cNvSpPr/>
          <p:nvPr/>
        </p:nvSpPr>
        <p:spPr>
          <a:xfrm>
            <a:off x="548640" y="1645920"/>
            <a:ext cx="3474720" cy="2740343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228600" t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D9488"/>
                </a:solidFill>
                <a:latin typeface="Georgia"/>
              </a:defRPr>
            </a:pP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Régression Linéaire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lang="fr-FR" dirty="0"/>
              <a:t>Les +</a:t>
            </a:r>
            <a:r>
              <a:rPr dirty="0"/>
              <a:t>:</a:t>
            </a:r>
            <a:br>
              <a:rPr dirty="0"/>
            </a:br>
            <a:r>
              <a:rPr sz="1100" b="0" dirty="0" err="1">
                <a:solidFill>
                  <a:srgbClr val="64748B"/>
                </a:solidFill>
              </a:rPr>
              <a:t>Modèle</a:t>
            </a:r>
            <a:r>
              <a:rPr sz="1100" b="0" dirty="0">
                <a:solidFill>
                  <a:srgbClr val="64748B"/>
                </a:solidFill>
              </a:rPr>
              <a:t> </a:t>
            </a:r>
            <a:r>
              <a:rPr lang="fr-FR" sz="1100" b="0" dirty="0">
                <a:solidFill>
                  <a:srgbClr val="64748B"/>
                </a:solidFill>
              </a:rPr>
              <a:t>"</a:t>
            </a:r>
            <a:r>
              <a:rPr sz="1100" b="0" dirty="0">
                <a:solidFill>
                  <a:srgbClr val="64748B"/>
                </a:solidFill>
              </a:rPr>
              <a:t>baseline</a:t>
            </a:r>
            <a:r>
              <a:rPr lang="fr-FR" sz="1100" b="0" dirty="0">
                <a:solidFill>
                  <a:srgbClr val="64748B"/>
                </a:solidFill>
              </a:rPr>
              <a:t>"</a:t>
            </a:r>
            <a:r>
              <a:rPr sz="1100" b="0" dirty="0">
                <a:solidFill>
                  <a:srgbClr val="64748B"/>
                </a:solidFill>
              </a:rPr>
              <a:t> servant de reference de performance minimal</a:t>
            </a:r>
            <a:r>
              <a:rPr lang="fr-FR" sz="1100" b="0" dirty="0">
                <a:solidFill>
                  <a:srgbClr val="64748B"/>
                </a:solidFill>
              </a:rPr>
              <a:t>e</a:t>
            </a:r>
            <a:r>
              <a:rPr sz="1100" b="0" dirty="0">
                <a:solidFill>
                  <a:srgbClr val="64748B"/>
                </a:solidFill>
              </a:rPr>
              <a:t>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lang="fr-FR" dirty="0"/>
              <a:t>Les -</a:t>
            </a:r>
            <a:r>
              <a:rPr dirty="0"/>
              <a:t>:</a:t>
            </a:r>
            <a:br>
              <a:rPr dirty="0"/>
            </a:br>
            <a:r>
              <a:rPr lang="fr-FR" sz="1100" b="0" dirty="0">
                <a:solidFill>
                  <a:srgbClr val="64748B"/>
                </a:solidFill>
              </a:rPr>
              <a:t>Résultats pas efficients modèle trop simple pour l’utiliser tel quel</a:t>
            </a:r>
            <a:endParaRPr sz="1100" b="0" dirty="0">
              <a:solidFill>
                <a:srgbClr val="64748B"/>
              </a:solidFill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CE2E2CAC-7A58-4F9C-782E-5E5BEA3BEFC3}"/>
              </a:ext>
            </a:extLst>
          </p:cNvPr>
          <p:cNvSpPr/>
          <p:nvPr/>
        </p:nvSpPr>
        <p:spPr>
          <a:xfrm>
            <a:off x="8280092" y="3863924"/>
            <a:ext cx="3474720" cy="26740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D97706"/>
                </a:solidFill>
                <a:latin typeface="Georgia"/>
              </a:defRPr>
            </a:pPr>
            <a:r>
              <a:rPr lang="fr-FR" dirty="0">
                <a:solidFill>
                  <a:schemeClr val="tx1"/>
                </a:solidFill>
              </a:rPr>
              <a:t>RandomForest</a:t>
            </a:r>
            <a:endParaRPr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lang="fr-FR" dirty="0"/>
              <a:t>Les +</a:t>
            </a:r>
            <a:r>
              <a:rPr dirty="0"/>
              <a:t>:</a:t>
            </a:r>
            <a:br>
              <a:rPr dirty="0"/>
            </a:br>
            <a:r>
              <a:rPr lang="fr-FR" sz="1100" b="0" dirty="0">
                <a:solidFill>
                  <a:srgbClr val="64748B"/>
                </a:solidFill>
              </a:rPr>
              <a:t>Le modèle le plus adaptatif. Valeurs élevées et échelles ont moins d’impact sur les scores </a:t>
            </a:r>
            <a:endParaRPr sz="1100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lang="fr-FR" dirty="0"/>
              <a:t>Les -</a:t>
            </a:r>
            <a:r>
              <a:rPr dirty="0"/>
              <a:t> :</a:t>
            </a:r>
            <a:br>
              <a:rPr dirty="0"/>
            </a:br>
            <a:r>
              <a:rPr lang="fr-FR" sz="1100" b="0" dirty="0">
                <a:solidFill>
                  <a:srgbClr val="64748B"/>
                </a:solidFill>
              </a:rPr>
              <a:t>Complexe a en comprendre exactement le fonctionnement </a:t>
            </a:r>
            <a:endParaRPr sz="1100" b="0" dirty="0">
              <a:solidFill>
                <a:srgbClr val="64748B"/>
              </a:solidFill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960ED744-7733-8B1E-9D0B-3E8012EDB8B3}"/>
              </a:ext>
            </a:extLst>
          </p:cNvPr>
          <p:cNvSpPr/>
          <p:nvPr/>
        </p:nvSpPr>
        <p:spPr>
          <a:xfrm>
            <a:off x="548640" y="4554197"/>
            <a:ext cx="3474720" cy="212312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228600" t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  <a:latin typeface="Georgia"/>
              </a:defRPr>
            </a:pPr>
            <a:r>
              <a:rPr dirty="0"/>
              <a:t>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SVR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lang="fr-FR" dirty="0"/>
              <a:t>les +</a:t>
            </a:r>
            <a:r>
              <a:rPr dirty="0"/>
              <a:t>:</a:t>
            </a:r>
            <a:br>
              <a:rPr dirty="0"/>
            </a:br>
            <a:r>
              <a:rPr sz="1100" b="0" dirty="0">
                <a:solidFill>
                  <a:srgbClr val="64748B"/>
                </a:solidFill>
              </a:rPr>
              <a:t>P</a:t>
            </a:r>
            <a:r>
              <a:rPr lang="fr-FR" sz="1100" b="0" dirty="0">
                <a:solidFill>
                  <a:srgbClr val="64748B"/>
                </a:solidFill>
              </a:rPr>
              <a:t>lus robuste sur les résultats (plus de stabilité)</a:t>
            </a:r>
            <a:endParaRPr sz="1100" b="0" dirty="0">
              <a:solidFill>
                <a:srgbClr val="64748B"/>
              </a:solidFill>
            </a:endParaRP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lang="fr-FR" dirty="0"/>
              <a:t>les -</a:t>
            </a:r>
            <a:r>
              <a:rPr dirty="0"/>
              <a:t> :</a:t>
            </a:r>
            <a:br>
              <a:rPr dirty="0"/>
            </a:br>
            <a:r>
              <a:rPr sz="1100" b="0" dirty="0">
                <a:solidFill>
                  <a:srgbClr val="64748B"/>
                </a:solidFill>
              </a:rPr>
              <a:t>M</a:t>
            </a:r>
            <a:r>
              <a:rPr lang="fr-FR" sz="1100" b="0" dirty="0">
                <a:solidFill>
                  <a:srgbClr val="64748B"/>
                </a:solidFill>
              </a:rPr>
              <a:t>oins précis que la randomForest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83F44CB1-A0F2-BA9C-9926-B918A701DE95}"/>
              </a:ext>
            </a:extLst>
          </p:cNvPr>
          <p:cNvSpPr/>
          <p:nvPr/>
        </p:nvSpPr>
        <p:spPr>
          <a:xfrm>
            <a:off x="8686800" y="3016091"/>
            <a:ext cx="2993871" cy="6714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228600" t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D97706"/>
                </a:solidFill>
                <a:latin typeface="Georgia"/>
              </a:defRPr>
            </a:pPr>
            <a:r>
              <a:rPr lang="fr-FR" dirty="0">
                <a:solidFill>
                  <a:schemeClr val="tx1"/>
                </a:solidFill>
              </a:rPr>
              <a:t>Modèle a déployer 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2708</TotalTime>
  <Words>1266</Words>
  <Application>Microsoft Macintosh PowerPoint</Application>
  <PresentationFormat>Grand écran</PresentationFormat>
  <Paragraphs>194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Georgia</vt:lpstr>
      <vt:lpstr>Verdana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Richomme</cp:lastModifiedBy>
  <cp:revision>30</cp:revision>
  <dcterms:created xsi:type="dcterms:W3CDTF">2013-01-27T09:14:16Z</dcterms:created>
  <dcterms:modified xsi:type="dcterms:W3CDTF">2026-10-21T10:08:27Z</dcterms:modified>
  <cp:category/>
</cp:coreProperties>
</file>