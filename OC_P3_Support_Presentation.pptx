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4" r:id="rId4"/>
    <p:sldId id="258" r:id="rId5"/>
    <p:sldId id="259" r:id="rId6"/>
    <p:sldId id="260" r:id="rId7"/>
    <p:sldId id="265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Style moye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13"/>
    <p:restoredTop sz="94585"/>
  </p:normalViewPr>
  <p:slideViewPr>
    <p:cSldViewPr snapToGrid="0" snapToObjects="1">
      <p:cViewPr varScale="1">
        <p:scale>
          <a:sx n="138" d="100"/>
          <a:sy n="138" d="100"/>
        </p:scale>
        <p:origin x="54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52BF14-2FBF-4643-8257-60843B12A07C}" type="datetimeFigureOut">
              <a:rPr lang="fr-FR" smtClean="0"/>
              <a:t>18/10/2026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8FD6C3-E2B2-384B-91EF-8FF6F52E910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2481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98D03-460D-8844-8DA4-901993F35E2E}" type="datetime1">
              <a:rPr lang="fr-FR" smtClean="0"/>
              <a:t>18/10/2026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Modélisation Prédictive (Machine Learning)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7E76A-470D-4947-8A0C-6850C0EB2E37}" type="datetime1">
              <a:rPr lang="fr-FR" smtClean="0"/>
              <a:t>18/10/2026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Modélisation Prédictive (Machine Learning)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B2A81-FC3F-D245-83CE-854CC4330A20}" type="datetime1">
              <a:rPr lang="fr-FR" smtClean="0"/>
              <a:t>18/10/2026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Modélisation Prédictive (Machine Learning)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DE0FF-40ED-5E4D-B616-48B2382715FA}" type="datetime1">
              <a:rPr lang="fr-FR" smtClean="0"/>
              <a:t>18/10/2026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Modélisation Prédictive (Machine Learning)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1C920-A4E5-EA41-94EB-352EA5317C2B}" type="datetime1">
              <a:rPr lang="fr-FR" smtClean="0"/>
              <a:t>18/10/2026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Modélisation Prédictive (Machine Learning)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2C0CE-6880-DC48-81B0-884254DC8EEA}" type="datetime1">
              <a:rPr lang="fr-FR" smtClean="0"/>
              <a:t>18/10/2026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Modélisation Prédictive (Machine Learning)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917FB-0588-1245-A2B1-13F676E6695E}" type="datetime1">
              <a:rPr lang="fr-FR" smtClean="0"/>
              <a:t>18/10/2026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Modélisation Prédictive (Machine Learning)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566AF-7226-F645-B51D-CD93B5541D03}" type="datetime1">
              <a:rPr lang="fr-FR" smtClean="0"/>
              <a:t>18/10/2026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Modélisation Prédictive (Machine Learning)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ED1A-BC21-1E41-9593-7D539B6103A8}" type="datetime1">
              <a:rPr lang="fr-FR" smtClean="0"/>
              <a:t>18/10/2026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Modélisation Prédictive (Machine Learning)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1DF16-FDBD-5D4B-808D-E44E618FD851}" type="datetime1">
              <a:rPr lang="fr-FR" smtClean="0"/>
              <a:t>18/10/2026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Modélisation Prédictive (Machine Learning)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0F95E7-688D-6646-83EE-0D3BDBA945D2}" type="datetime1">
              <a:rPr lang="fr-FR" smtClean="0"/>
              <a:t>18/10/2026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Modélisation Prédictive (Machine Learning)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8F1A12-357A-B248-8C36-4D6A2870AB2B}" type="datetime1">
              <a:rPr lang="fr-FR" smtClean="0"/>
              <a:t>18/10/2026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Modélisation Prédictive (Machine Learning)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687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Georgia"/>
              </a:defRPr>
            </a:pPr>
            <a:r>
              <a:rPr dirty="0"/>
              <a:t>Anticipation des </a:t>
            </a:r>
            <a:r>
              <a:rPr dirty="0" err="1"/>
              <a:t>Besoins</a:t>
            </a:r>
            <a:r>
              <a:rPr dirty="0"/>
              <a:t> </a:t>
            </a:r>
            <a:r>
              <a:rPr dirty="0" err="1"/>
              <a:t>Énergétiques</a:t>
            </a:r>
            <a:r>
              <a:rPr dirty="0"/>
              <a:t> &amp; </a:t>
            </a:r>
            <a:r>
              <a:rPr dirty="0" err="1"/>
              <a:t>Émissions</a:t>
            </a:r>
            <a:r>
              <a:rPr dirty="0"/>
              <a:t> CO₂</a:t>
            </a:r>
          </a:p>
          <a:p>
            <a:pPr algn="l">
              <a:spcBef>
                <a:spcPts val="1400"/>
              </a:spcBef>
              <a:defRPr sz="2000">
                <a:solidFill>
                  <a:srgbClr val="0284C7"/>
                </a:solidFill>
                <a:latin typeface="Verdana"/>
              </a:defRPr>
            </a:pPr>
            <a:r>
              <a:rPr dirty="0" err="1"/>
              <a:t>Présentation</a:t>
            </a:r>
            <a:r>
              <a:rPr dirty="0"/>
              <a:t> </a:t>
            </a:r>
            <a:r>
              <a:rPr lang="fr-FR" dirty="0"/>
              <a:t>de</a:t>
            </a:r>
            <a:r>
              <a:rPr dirty="0"/>
              <a:t> </a:t>
            </a:r>
            <a:r>
              <a:rPr dirty="0" err="1"/>
              <a:t>Soutenanc</a:t>
            </a:r>
            <a:r>
              <a:rPr lang="fr-FR" dirty="0"/>
              <a:t>e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914400" y="4114800"/>
            <a:ext cx="2286000" cy="508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B6807A0F-2414-20B1-AFA6-D17F307789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924"/>
          <a:stretch>
            <a:fillRect/>
          </a:stretch>
        </p:blipFill>
        <p:spPr>
          <a:xfrm>
            <a:off x="5735782" y="3168762"/>
            <a:ext cx="6003637" cy="33474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53312"/>
            <a:ext cx="12191695" cy="254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92079" y="338512"/>
            <a:ext cx="10407535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F172A"/>
                </a:solidFill>
                <a:latin typeface="Georgia"/>
              </a:defRPr>
            </a:pPr>
            <a:r>
              <a:rPr lang="fr-FR" dirty="0"/>
              <a:t>Environnement</a:t>
            </a:r>
            <a:r>
              <a:rPr dirty="0"/>
              <a:t> </a:t>
            </a:r>
            <a:r>
              <a:rPr lang="fr-FR" dirty="0"/>
              <a:t>technique et gestion documentaire</a:t>
            </a:r>
            <a:endParaRPr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ED8E295-3E84-2DD1-93B5-67661A5AA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err="1"/>
              <a:t>Modélisation</a:t>
            </a:r>
            <a:r>
              <a:rPr lang="en-US" dirty="0"/>
              <a:t> </a:t>
            </a:r>
            <a:r>
              <a:rPr lang="en-US" dirty="0" err="1"/>
              <a:t>Prédictive</a:t>
            </a:r>
            <a:r>
              <a:rPr lang="en-US" dirty="0"/>
              <a:t> (Machine Learning)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5B85BFD-6E4B-36CA-DFEE-365F5EE17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 dirty="0"/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94CA2B97-DE01-3996-CD5B-61C9FB058E58}"/>
              </a:ext>
            </a:extLst>
          </p:cNvPr>
          <p:cNvSpPr/>
          <p:nvPr/>
        </p:nvSpPr>
        <p:spPr>
          <a:xfrm>
            <a:off x="6182821" y="1783080"/>
            <a:ext cx="5303520" cy="2768820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274320" tIns="274320" rIns="274320" rtlCol="0" anchor="ctr"/>
          <a:lstStyle/>
          <a:p>
            <a:pPr algn="ctr">
              <a:spcAft>
                <a:spcPts val="1000"/>
              </a:spcAft>
              <a:defRPr sz="1600" b="1">
                <a:solidFill>
                  <a:srgbClr val="1E293B"/>
                </a:solidFill>
                <a:latin typeface="Georgia"/>
              </a:defRPr>
            </a:pPr>
            <a:r>
              <a:rPr lang="fr-FR" dirty="0"/>
              <a:t>Gestion documentaire</a:t>
            </a:r>
            <a:endParaRPr dirty="0"/>
          </a:p>
          <a:p>
            <a:pPr>
              <a:spcAft>
                <a:spcPts val="800"/>
              </a:spcAft>
              <a:defRPr sz="1200" b="1">
                <a:solidFill>
                  <a:srgbClr val="1E293B"/>
                </a:solidFill>
                <a:latin typeface="Verdana"/>
              </a:defRPr>
            </a:pPr>
            <a:r>
              <a:rPr lang="fr-FR" dirty="0"/>
              <a:t>Dossier data/RAW </a:t>
            </a:r>
            <a:r>
              <a:rPr dirty="0"/>
              <a:t>: </a:t>
            </a:r>
            <a:r>
              <a:rPr lang="fr-FR" b="0" dirty="0">
                <a:solidFill>
                  <a:srgbClr val="64748B"/>
                </a:solidFill>
              </a:rPr>
              <a:t>Utilisé pour stocker le dataset d’origine</a:t>
            </a:r>
            <a:r>
              <a:rPr b="0" dirty="0">
                <a:solidFill>
                  <a:srgbClr val="64748B"/>
                </a:solidFill>
              </a:rPr>
              <a:t>.</a:t>
            </a:r>
          </a:p>
          <a:p>
            <a:pPr>
              <a:spcAft>
                <a:spcPts val="800"/>
              </a:spcAft>
              <a:defRPr sz="1200" b="1">
                <a:solidFill>
                  <a:srgbClr val="1E293B"/>
                </a:solidFill>
                <a:latin typeface="Verdana"/>
              </a:defRPr>
            </a:pPr>
            <a:r>
              <a:rPr lang="fr-FR" dirty="0"/>
              <a:t>Dossier data/PROCESSED</a:t>
            </a:r>
            <a:r>
              <a:rPr dirty="0"/>
              <a:t>: </a:t>
            </a:r>
            <a:r>
              <a:rPr lang="fr-FR" b="0" dirty="0">
                <a:solidFill>
                  <a:srgbClr val="64748B"/>
                </a:solidFill>
              </a:rPr>
              <a:t>Utilisé pour stocker les datasets traités (nettoyés et prêt pour l’</a:t>
            </a:r>
            <a:r>
              <a:rPr lang="fr-FR" b="0" dirty="0" err="1">
                <a:solidFill>
                  <a:srgbClr val="64748B"/>
                </a:solidFill>
              </a:rPr>
              <a:t>entraînnement</a:t>
            </a:r>
            <a:r>
              <a:rPr lang="fr-FR" b="0" dirty="0">
                <a:solidFill>
                  <a:srgbClr val="64748B"/>
                </a:solidFill>
              </a:rPr>
              <a:t> des modèles)</a:t>
            </a:r>
            <a:r>
              <a:rPr b="0" dirty="0">
                <a:solidFill>
                  <a:srgbClr val="64748B"/>
                </a:solidFill>
              </a:rPr>
              <a:t>.</a:t>
            </a:r>
            <a:endParaRPr lang="fr-FR" b="0" dirty="0">
              <a:solidFill>
                <a:srgbClr val="64748B"/>
              </a:solidFill>
            </a:endParaRPr>
          </a:p>
          <a:p>
            <a:pPr>
              <a:spcAft>
                <a:spcPts val="800"/>
              </a:spcAft>
              <a:defRPr sz="1200" b="1">
                <a:solidFill>
                  <a:srgbClr val="1E293B"/>
                </a:solidFill>
                <a:latin typeface="Verdana"/>
              </a:defRPr>
            </a:pPr>
            <a:r>
              <a:rPr lang="fr-FR" dirty="0" err="1"/>
              <a:t>Requirements.txt</a:t>
            </a:r>
            <a:r>
              <a:rPr dirty="0"/>
              <a:t>: </a:t>
            </a:r>
            <a:r>
              <a:rPr lang="fr-FR" b="0" dirty="0">
                <a:solidFill>
                  <a:srgbClr val="64748B"/>
                </a:solidFill>
              </a:rPr>
              <a:t>Document qui répertorie les librairies python nécessaires au projet (a terme ce document sera dans le dossier GIT pour un éventuel  environnement Docker)</a:t>
            </a:r>
            <a:r>
              <a:rPr b="0" dirty="0">
                <a:solidFill>
                  <a:srgbClr val="64748B"/>
                </a:solidFill>
              </a:rPr>
              <a:t>.</a:t>
            </a:r>
            <a:endParaRPr lang="fr-FR" b="0" dirty="0">
              <a:solidFill>
                <a:srgbClr val="64748B"/>
              </a:solidFill>
            </a:endParaRPr>
          </a:p>
          <a:p>
            <a:pPr>
              <a:spcAft>
                <a:spcPts val="800"/>
              </a:spcAft>
              <a:defRPr sz="1200" b="1">
                <a:solidFill>
                  <a:srgbClr val="1E293B"/>
                </a:solidFill>
                <a:latin typeface="Verdana"/>
              </a:defRPr>
            </a:pPr>
            <a:r>
              <a:rPr lang="fr-FR" dirty="0"/>
              <a:t>  </a:t>
            </a:r>
            <a:endParaRPr lang="fr-FR" b="0" dirty="0">
              <a:solidFill>
                <a:srgbClr val="64748B"/>
              </a:solidFill>
            </a:endParaRPr>
          </a:p>
        </p:txBody>
      </p:sp>
      <p:sp>
        <p:nvSpPr>
          <p:cNvPr id="10" name="Rounded Rectangle 4">
            <a:extLst>
              <a:ext uri="{FF2B5EF4-FFF2-40B4-BE49-F238E27FC236}">
                <a16:creationId xmlns:a16="http://schemas.microsoft.com/office/drawing/2014/main" id="{DC7249D2-388F-1AA3-C0FA-E37529303F9A}"/>
              </a:ext>
            </a:extLst>
          </p:cNvPr>
          <p:cNvSpPr/>
          <p:nvPr/>
        </p:nvSpPr>
        <p:spPr>
          <a:xfrm>
            <a:off x="472440" y="1783080"/>
            <a:ext cx="5303520" cy="2181629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lIns="274320" tIns="274320" rIns="274320" rtlCol="0" anchor="ctr"/>
          <a:lstStyle/>
          <a:p>
            <a:pPr algn="ctr">
              <a:spcAft>
                <a:spcPts val="1000"/>
              </a:spcAft>
              <a:defRPr sz="1600" b="1">
                <a:solidFill>
                  <a:srgbClr val="1E293B"/>
                </a:solidFill>
                <a:latin typeface="Georgia"/>
              </a:defRPr>
            </a:pPr>
            <a:r>
              <a:rPr lang="fr-FR" dirty="0"/>
              <a:t>Environnement Technique</a:t>
            </a:r>
            <a:endParaRPr dirty="0"/>
          </a:p>
          <a:p>
            <a:pPr>
              <a:spcAft>
                <a:spcPts val="800"/>
              </a:spcAft>
              <a:defRPr sz="1200" b="1">
                <a:solidFill>
                  <a:srgbClr val="1E293B"/>
                </a:solidFill>
                <a:latin typeface="Verdana"/>
              </a:defRPr>
            </a:pPr>
            <a:r>
              <a:rPr lang="fr-FR" dirty="0"/>
              <a:t>VS code </a:t>
            </a:r>
            <a:r>
              <a:rPr dirty="0"/>
              <a:t>: </a:t>
            </a:r>
            <a:r>
              <a:rPr lang="fr-FR" b="0" dirty="0">
                <a:solidFill>
                  <a:srgbClr val="64748B"/>
                </a:solidFill>
              </a:rPr>
              <a:t>Utilisé travailler sur les documents de prototypage des </a:t>
            </a:r>
            <a:r>
              <a:rPr lang="fr-FR" b="0" dirty="0" err="1">
                <a:solidFill>
                  <a:srgbClr val="64748B"/>
                </a:solidFill>
              </a:rPr>
              <a:t>modeles</a:t>
            </a:r>
            <a:r>
              <a:rPr lang="fr-FR" dirty="0">
                <a:solidFill>
                  <a:srgbClr val="64748B"/>
                </a:solidFill>
              </a:rPr>
              <a:t>.</a:t>
            </a:r>
            <a:endParaRPr b="0" dirty="0">
              <a:solidFill>
                <a:srgbClr val="64748B"/>
              </a:solidFill>
            </a:endParaRPr>
          </a:p>
          <a:p>
            <a:pPr>
              <a:spcAft>
                <a:spcPts val="800"/>
              </a:spcAft>
              <a:defRPr sz="1200" b="1">
                <a:solidFill>
                  <a:srgbClr val="1E293B"/>
                </a:solidFill>
                <a:latin typeface="Verdana"/>
              </a:defRPr>
            </a:pPr>
            <a:r>
              <a:rPr lang="fr-FR" dirty="0"/>
              <a:t>Git hub</a:t>
            </a:r>
            <a:r>
              <a:rPr dirty="0"/>
              <a:t>: </a:t>
            </a:r>
            <a:r>
              <a:rPr lang="fr-FR" b="0" dirty="0">
                <a:solidFill>
                  <a:srgbClr val="64748B"/>
                </a:solidFill>
              </a:rPr>
              <a:t>Utilisé pour héberger les documents (datasets et documents de prototypage) sur une plateforme partagée en ligne. </a:t>
            </a:r>
            <a:endParaRPr b="0" dirty="0">
              <a:solidFill>
                <a:srgbClr val="64748B"/>
              </a:solidFill>
            </a:endParaRPr>
          </a:p>
        </p:txBody>
      </p:sp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9A259A45-8D26-77D3-A1DB-181F44B842ED}"/>
              </a:ext>
            </a:extLst>
          </p:cNvPr>
          <p:cNvSpPr/>
          <p:nvPr/>
        </p:nvSpPr>
        <p:spPr>
          <a:xfrm>
            <a:off x="6182821" y="4769860"/>
            <a:ext cx="5303520" cy="1368529"/>
          </a:xfrm>
          <a:prstGeom prst="roundRect">
            <a:avLst/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274320" tIns="274320" rIns="274320" rtlCol="0" anchor="ctr"/>
          <a:lstStyle/>
          <a:p>
            <a:pPr algn="ctr">
              <a:spcAft>
                <a:spcPts val="1000"/>
              </a:spcAft>
              <a:defRPr sz="1600" b="1">
                <a:solidFill>
                  <a:srgbClr val="1E293B"/>
                </a:solidFill>
                <a:latin typeface="Georgia"/>
              </a:defRPr>
            </a:pPr>
            <a:r>
              <a:rPr lang="fr-FR" dirty="0"/>
              <a:t>GIT Hub &lt;&gt; VS Code </a:t>
            </a:r>
            <a:endParaRPr dirty="0"/>
          </a:p>
          <a:p>
            <a:pPr>
              <a:spcAft>
                <a:spcPts val="800"/>
              </a:spcAft>
              <a:defRPr sz="1200" b="1">
                <a:solidFill>
                  <a:srgbClr val="1E293B"/>
                </a:solidFill>
                <a:latin typeface="Verdana"/>
              </a:defRPr>
            </a:pPr>
            <a:r>
              <a:rPr lang="fr-FR" b="0" dirty="0">
                <a:solidFill>
                  <a:srgbClr val="64748B"/>
                </a:solidFill>
              </a:rPr>
              <a:t>Les modifications sur tous les documents ont été hébergées sur GIT Hub. Sur VS Code, il y a un état des lieux de tous les commit depuis le début du projet</a:t>
            </a:r>
            <a:endParaRPr b="0" dirty="0">
              <a:solidFill>
                <a:srgbClr val="64748B"/>
              </a:solidFill>
            </a:endParaRPr>
          </a:p>
        </p:txBody>
      </p:sp>
      <p:sp>
        <p:nvSpPr>
          <p:cNvPr id="12" name="Rounded Rectangle 4">
            <a:extLst>
              <a:ext uri="{FF2B5EF4-FFF2-40B4-BE49-F238E27FC236}">
                <a16:creationId xmlns:a16="http://schemas.microsoft.com/office/drawing/2014/main" id="{1BE7F4C5-4528-CAF8-D609-2CE691A91175}"/>
              </a:ext>
            </a:extLst>
          </p:cNvPr>
          <p:cNvSpPr/>
          <p:nvPr/>
        </p:nvSpPr>
        <p:spPr>
          <a:xfrm>
            <a:off x="472440" y="4240316"/>
            <a:ext cx="5303520" cy="1898073"/>
          </a:xfrm>
          <a:prstGeom prst="roundRect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lIns="274320" tIns="274320" rIns="274320" rtlCol="0" anchor="ctr"/>
          <a:lstStyle/>
          <a:p>
            <a:pPr algn="ctr">
              <a:spcAft>
                <a:spcPts val="1000"/>
              </a:spcAft>
              <a:defRPr sz="1600" b="1">
                <a:solidFill>
                  <a:srgbClr val="1E293B"/>
                </a:solidFill>
                <a:latin typeface="Georgia"/>
              </a:defRPr>
            </a:pPr>
            <a:r>
              <a:rPr lang="fr-FR" dirty="0"/>
              <a:t>Code et prototypage</a:t>
            </a:r>
            <a:endParaRPr b="0" dirty="0">
              <a:solidFill>
                <a:srgbClr val="64748B"/>
              </a:solidFill>
            </a:endParaRPr>
          </a:p>
          <a:p>
            <a:pPr>
              <a:spcAft>
                <a:spcPts val="800"/>
              </a:spcAft>
              <a:defRPr sz="1200" b="1">
                <a:solidFill>
                  <a:srgbClr val="1E293B"/>
                </a:solidFill>
                <a:latin typeface="Verdana"/>
              </a:defRPr>
            </a:pPr>
            <a:r>
              <a:rPr lang="fr-FR" dirty="0"/>
              <a:t>P3_analyse_nettoyage_dataset.ipynb </a:t>
            </a:r>
            <a:r>
              <a:rPr dirty="0"/>
              <a:t>: </a:t>
            </a:r>
            <a:r>
              <a:rPr lang="fr-FR" b="0" dirty="0">
                <a:solidFill>
                  <a:srgbClr val="64748B"/>
                </a:solidFill>
              </a:rPr>
              <a:t>Utilisé Document dans lequel se trouvent les algorithmes de </a:t>
            </a:r>
            <a:r>
              <a:rPr lang="fr-FR" b="0" dirty="0" err="1">
                <a:solidFill>
                  <a:srgbClr val="64748B"/>
                </a:solidFill>
              </a:rPr>
              <a:t>nottoyage</a:t>
            </a:r>
            <a:r>
              <a:rPr lang="fr-FR" b="0" dirty="0">
                <a:solidFill>
                  <a:srgbClr val="64748B"/>
                </a:solidFill>
              </a:rPr>
              <a:t> et la création de la première Feature (FE1)</a:t>
            </a:r>
          </a:p>
          <a:p>
            <a:pPr>
              <a:spcAft>
                <a:spcPts val="800"/>
              </a:spcAft>
              <a:defRPr sz="1200" b="1">
                <a:solidFill>
                  <a:srgbClr val="1E293B"/>
                </a:solidFill>
                <a:latin typeface="Verdana"/>
              </a:defRPr>
            </a:pPr>
            <a:r>
              <a:rPr lang="fr-FR" dirty="0"/>
              <a:t>P3_modelisation_ML_supervisee.ipynb</a:t>
            </a:r>
            <a:r>
              <a:rPr dirty="0"/>
              <a:t>: </a:t>
            </a:r>
            <a:r>
              <a:rPr lang="fr-FR" b="0" dirty="0">
                <a:solidFill>
                  <a:srgbClr val="64748B"/>
                </a:solidFill>
              </a:rPr>
              <a:t>Document dans lequel se trouvent les algorithmes de modélisation</a:t>
            </a:r>
          </a:p>
          <a:p>
            <a:pPr>
              <a:spcAft>
                <a:spcPts val="800"/>
              </a:spcAft>
              <a:defRPr sz="1200" b="1">
                <a:solidFill>
                  <a:srgbClr val="1E293B"/>
                </a:solidFill>
                <a:latin typeface="Verdana"/>
              </a:defRPr>
            </a:pPr>
            <a:r>
              <a:rPr lang="fr-FR" dirty="0"/>
              <a:t>  </a:t>
            </a:r>
            <a:endParaRPr lang="fr-FR" b="0" dirty="0">
              <a:solidFill>
                <a:srgbClr val="64748B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293664-9033-EBF1-C1B2-2824BC5BA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D3C623D-4F85-46B9-AC5D-9FFE9EB590FF}"/>
              </a:ext>
            </a:extLst>
          </p:cNvPr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443CC7-7D1E-6035-ADEF-CF40AC720C5C}"/>
              </a:ext>
            </a:extLst>
          </p:cNvPr>
          <p:cNvSpPr/>
          <p:nvPr/>
        </p:nvSpPr>
        <p:spPr>
          <a:xfrm>
            <a:off x="0" y="1353312"/>
            <a:ext cx="12191695" cy="254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65EEC5-EE07-F363-19F5-4B7BC84257C6}"/>
              </a:ext>
            </a:extLst>
          </p:cNvPr>
          <p:cNvSpPr txBox="1"/>
          <p:nvPr/>
        </p:nvSpPr>
        <p:spPr>
          <a:xfrm>
            <a:off x="731520" y="320040"/>
            <a:ext cx="1069848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F172A"/>
                </a:solidFill>
                <a:latin typeface="Georgia"/>
              </a:defRPr>
            </a:pPr>
            <a:r>
              <a:rPr lang="fr-FR" dirty="0"/>
              <a:t>Audit du </a:t>
            </a:r>
            <a:r>
              <a:rPr lang="fr-FR" dirty="0" err="1"/>
              <a:t>DataSet</a:t>
            </a:r>
            <a:r>
              <a:rPr lang="fr-FR" dirty="0"/>
              <a:t> &amp; Nettoyage des données</a:t>
            </a:r>
            <a:endParaRPr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350D21E-C75E-EFB4-C780-96B0CEA5B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Modélisation Prédictive (Machine Learning)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1F294BD-9DD0-BF18-6665-079EE27BD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  <p:sp>
        <p:nvSpPr>
          <p:cNvPr id="8" name="Rounded Rectangle 3">
            <a:extLst>
              <a:ext uri="{FF2B5EF4-FFF2-40B4-BE49-F238E27FC236}">
                <a16:creationId xmlns:a16="http://schemas.microsoft.com/office/drawing/2014/main" id="{E02323E2-BA67-482B-B001-851EE7510CC9}"/>
              </a:ext>
            </a:extLst>
          </p:cNvPr>
          <p:cNvSpPr/>
          <p:nvPr/>
        </p:nvSpPr>
        <p:spPr>
          <a:xfrm>
            <a:off x="472440" y="5504688"/>
            <a:ext cx="5303520" cy="704273"/>
          </a:xfrm>
          <a:prstGeom prst="roundRect">
            <a:avLst/>
          </a:prstGeom>
          <a:solidFill>
            <a:srgbClr val="CCFBF1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tlCol="0" anchor="t"/>
          <a:lstStyle/>
          <a:p>
            <a:pPr algn="ctr">
              <a:spcAft>
                <a:spcPts val="400"/>
              </a:spcAft>
              <a:defRPr sz="1600" b="1">
                <a:solidFill>
                  <a:srgbClr val="0D9488"/>
                </a:solidFill>
                <a:latin typeface="Georgia"/>
              </a:defRPr>
            </a:pPr>
            <a:r>
              <a:rPr lang="fr-FR" dirty="0"/>
              <a:t>Définition de la </a:t>
            </a:r>
            <a:r>
              <a:rPr dirty="0"/>
              <a:t>Variable </a:t>
            </a:r>
            <a:r>
              <a:rPr dirty="0" err="1"/>
              <a:t>Cible</a:t>
            </a:r>
            <a:r>
              <a:rPr dirty="0"/>
              <a:t> (</a:t>
            </a:r>
            <a:r>
              <a:rPr dirty="0" err="1"/>
              <a:t>SiteEnergyUs</a:t>
            </a:r>
            <a:r>
              <a:rPr lang="fr-FR" dirty="0"/>
              <a:t>e</a:t>
            </a:r>
            <a:r>
              <a:rPr dirty="0"/>
              <a:t>)</a:t>
            </a:r>
            <a:endParaRPr lang="fr-FR" dirty="0"/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F394F3FC-3D55-287F-89DC-0A8CB1DCDB5E}"/>
              </a:ext>
            </a:extLst>
          </p:cNvPr>
          <p:cNvSpPr/>
          <p:nvPr/>
        </p:nvSpPr>
        <p:spPr>
          <a:xfrm>
            <a:off x="472440" y="1693949"/>
            <a:ext cx="5303520" cy="346779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lIns="274320" tIns="274320" rIns="274320" rtlCol="0" anchor="ctr"/>
          <a:lstStyle/>
          <a:p>
            <a:pPr algn="ctr">
              <a:spcAft>
                <a:spcPts val="1000"/>
              </a:spcAft>
              <a:defRPr sz="1600" b="1">
                <a:solidFill>
                  <a:srgbClr val="1E293B"/>
                </a:solidFill>
                <a:latin typeface="Georgia"/>
              </a:defRPr>
            </a:pPr>
            <a:r>
              <a:rPr lang="fr-FR" dirty="0"/>
              <a:t>Audit du dataset d’origine </a:t>
            </a:r>
            <a:endParaRPr dirty="0"/>
          </a:p>
          <a:p>
            <a:pPr>
              <a:spcAft>
                <a:spcPts val="800"/>
              </a:spcAft>
              <a:defRPr sz="1200" b="1">
                <a:solidFill>
                  <a:srgbClr val="1E293B"/>
                </a:solidFill>
                <a:latin typeface="Verdana"/>
              </a:defRPr>
            </a:pPr>
            <a:r>
              <a:rPr lang="fr-FR" dirty="0"/>
              <a:t>VS code </a:t>
            </a:r>
            <a:r>
              <a:rPr dirty="0"/>
              <a:t>: </a:t>
            </a:r>
            <a:r>
              <a:rPr lang="fr-FR" b="0" dirty="0">
                <a:solidFill>
                  <a:srgbClr val="64748B"/>
                </a:solidFill>
              </a:rPr>
              <a:t>Utilisé travailler sur les documents de prototypage des </a:t>
            </a:r>
            <a:r>
              <a:rPr lang="fr-FR" b="0" dirty="0" err="1">
                <a:solidFill>
                  <a:srgbClr val="64748B"/>
                </a:solidFill>
              </a:rPr>
              <a:t>modeles</a:t>
            </a:r>
            <a:r>
              <a:rPr lang="fr-FR" dirty="0">
                <a:solidFill>
                  <a:srgbClr val="64748B"/>
                </a:solidFill>
              </a:rPr>
              <a:t>.</a:t>
            </a:r>
            <a:endParaRPr b="0" dirty="0">
              <a:solidFill>
                <a:srgbClr val="64748B"/>
              </a:solidFill>
            </a:endParaRPr>
          </a:p>
          <a:p>
            <a:pPr>
              <a:spcAft>
                <a:spcPts val="800"/>
              </a:spcAft>
              <a:defRPr sz="1200" b="1">
                <a:solidFill>
                  <a:srgbClr val="1E293B"/>
                </a:solidFill>
                <a:latin typeface="Verdana"/>
              </a:defRPr>
            </a:pPr>
            <a:r>
              <a:rPr lang="fr-FR" dirty="0"/>
              <a:t>Git hub</a:t>
            </a:r>
            <a:r>
              <a:rPr dirty="0"/>
              <a:t>: </a:t>
            </a:r>
            <a:r>
              <a:rPr lang="fr-FR" b="0" dirty="0">
                <a:solidFill>
                  <a:srgbClr val="64748B"/>
                </a:solidFill>
              </a:rPr>
              <a:t>Utilisé pour héberger les documents (datasets et documents de prototypage) sur une plateforme partagée en ligne. </a:t>
            </a:r>
            <a:endParaRPr b="0" dirty="0">
              <a:solidFill>
                <a:srgbClr val="64748B"/>
              </a:solidFill>
            </a:endParaRPr>
          </a:p>
        </p:txBody>
      </p:sp>
      <p:sp>
        <p:nvSpPr>
          <p:cNvPr id="10" name="Rounded Rectangle 4">
            <a:extLst>
              <a:ext uri="{FF2B5EF4-FFF2-40B4-BE49-F238E27FC236}">
                <a16:creationId xmlns:a16="http://schemas.microsoft.com/office/drawing/2014/main" id="{F61DE31B-BAA8-B41C-3216-84DF64313F6D}"/>
              </a:ext>
            </a:extLst>
          </p:cNvPr>
          <p:cNvSpPr/>
          <p:nvPr/>
        </p:nvSpPr>
        <p:spPr>
          <a:xfrm>
            <a:off x="6096000" y="1691640"/>
            <a:ext cx="5726544" cy="4517321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lIns="274320" tIns="274320" rIns="274320" rtlCol="0" anchor="ctr"/>
          <a:lstStyle/>
          <a:p>
            <a:pPr algn="ctr">
              <a:spcAft>
                <a:spcPts val="1000"/>
              </a:spcAft>
              <a:defRPr sz="1600" b="1">
                <a:solidFill>
                  <a:srgbClr val="1E293B"/>
                </a:solidFill>
                <a:latin typeface="Georgia"/>
              </a:defRPr>
            </a:pPr>
            <a:r>
              <a:rPr lang="fr-FR" dirty="0"/>
              <a:t>Création d’un dataset « allégé »</a:t>
            </a:r>
            <a:endParaRPr dirty="0"/>
          </a:p>
          <a:p>
            <a:pPr>
              <a:spcAft>
                <a:spcPts val="800"/>
              </a:spcAft>
              <a:defRPr sz="1200" b="1">
                <a:solidFill>
                  <a:srgbClr val="1E293B"/>
                </a:solidFill>
                <a:latin typeface="Verdana"/>
              </a:defRPr>
            </a:pPr>
            <a:r>
              <a:rPr lang="fr-FR" dirty="0"/>
              <a:t>Colonnes non nécessaires</a:t>
            </a:r>
            <a:r>
              <a:rPr dirty="0"/>
              <a:t>: </a:t>
            </a:r>
            <a:r>
              <a:rPr lang="fr-FR" b="0" dirty="0">
                <a:solidFill>
                  <a:srgbClr val="64748B"/>
                </a:solidFill>
              </a:rPr>
              <a:t>Utilisé travailler sur les documents de prototypage des </a:t>
            </a:r>
            <a:r>
              <a:rPr lang="fr-FR" b="0" dirty="0" err="1">
                <a:solidFill>
                  <a:srgbClr val="64748B"/>
                </a:solidFill>
              </a:rPr>
              <a:t>modeles</a:t>
            </a:r>
            <a:r>
              <a:rPr lang="fr-FR" dirty="0">
                <a:solidFill>
                  <a:srgbClr val="64748B"/>
                </a:solidFill>
              </a:rPr>
              <a:t>.</a:t>
            </a:r>
            <a:endParaRPr b="0" dirty="0">
              <a:solidFill>
                <a:srgbClr val="64748B"/>
              </a:solidFill>
            </a:endParaRPr>
          </a:p>
          <a:p>
            <a:pPr>
              <a:spcAft>
                <a:spcPts val="800"/>
              </a:spcAft>
              <a:defRPr sz="1200" b="1">
                <a:solidFill>
                  <a:srgbClr val="1E293B"/>
                </a:solidFill>
                <a:latin typeface="Verdana"/>
              </a:defRPr>
            </a:pPr>
            <a:r>
              <a:rPr lang="fr-FR" dirty="0"/>
              <a:t>Gestion des valeurs vides / aberrantes </a:t>
            </a:r>
            <a:r>
              <a:rPr dirty="0"/>
              <a:t>: </a:t>
            </a:r>
            <a:r>
              <a:rPr lang="fr-FR" b="0" dirty="0">
                <a:solidFill>
                  <a:srgbClr val="64748B"/>
                </a:solidFill>
              </a:rPr>
              <a:t>Utilisé pour héberger les documents (datasets et documents de prototypage) sur une plateforme partagée en ligne. </a:t>
            </a:r>
            <a:endParaRPr b="0" dirty="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86632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53312"/>
            <a:ext cx="12191695" cy="254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F172A"/>
                </a:solidFill>
                <a:latin typeface="Georgia"/>
              </a:defRPr>
            </a:pPr>
            <a:r>
              <a:rPr dirty="0" err="1"/>
              <a:t>Analyse</a:t>
            </a:r>
            <a:r>
              <a:rPr dirty="0"/>
              <a:t> Descriptive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B5088B0-7F11-CF99-4A0B-4F182D40A6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Modélisation Prédictive (Machine Learning)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5E1C608-D881-933F-0365-7B072C50A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DB847431-1C1E-E1F8-2D00-E6CEF862DAB3}"/>
              </a:ext>
            </a:extLst>
          </p:cNvPr>
          <p:cNvSpPr/>
          <p:nvPr/>
        </p:nvSpPr>
        <p:spPr>
          <a:xfrm>
            <a:off x="624840" y="1846349"/>
            <a:ext cx="5303520" cy="346779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lIns="274320" tIns="274320" rIns="274320" rtlCol="0" anchor="ctr"/>
          <a:lstStyle/>
          <a:p>
            <a:pPr algn="ctr">
              <a:spcAft>
                <a:spcPts val="1000"/>
              </a:spcAft>
              <a:defRPr sz="1600" b="1">
                <a:solidFill>
                  <a:srgbClr val="1E293B"/>
                </a:solidFill>
                <a:latin typeface="Georgia"/>
              </a:defRPr>
            </a:pPr>
            <a:r>
              <a:rPr lang="fr-FR" dirty="0"/>
              <a:t>Audit du dataset d’origine </a:t>
            </a:r>
            <a:endParaRPr dirty="0"/>
          </a:p>
          <a:p>
            <a:pPr>
              <a:spcAft>
                <a:spcPts val="800"/>
              </a:spcAft>
              <a:defRPr sz="1200" b="1">
                <a:solidFill>
                  <a:srgbClr val="1E293B"/>
                </a:solidFill>
                <a:latin typeface="Verdana"/>
              </a:defRPr>
            </a:pPr>
            <a:r>
              <a:rPr lang="fr-FR" dirty="0" err="1"/>
              <a:t>Correlation</a:t>
            </a:r>
            <a:r>
              <a:rPr lang="fr-FR" dirty="0"/>
              <a:t> et variables en relation</a:t>
            </a:r>
            <a:r>
              <a:rPr dirty="0"/>
              <a:t>: </a:t>
            </a:r>
            <a:r>
              <a:rPr lang="fr-FR" b="0" dirty="0">
                <a:solidFill>
                  <a:srgbClr val="64748B"/>
                </a:solidFill>
              </a:rPr>
              <a:t>Utilisé travailler sur les documents de prototypage des </a:t>
            </a:r>
            <a:r>
              <a:rPr lang="fr-FR" b="0" dirty="0" err="1">
                <a:solidFill>
                  <a:srgbClr val="64748B"/>
                </a:solidFill>
              </a:rPr>
              <a:t>modeles</a:t>
            </a:r>
            <a:r>
              <a:rPr lang="fr-FR" dirty="0">
                <a:solidFill>
                  <a:srgbClr val="64748B"/>
                </a:solidFill>
              </a:rPr>
              <a:t>.</a:t>
            </a:r>
            <a:endParaRPr b="0" dirty="0">
              <a:solidFill>
                <a:srgbClr val="64748B"/>
              </a:solidFill>
            </a:endParaRPr>
          </a:p>
          <a:p>
            <a:pPr>
              <a:spcAft>
                <a:spcPts val="800"/>
              </a:spcAft>
              <a:defRPr sz="1200" b="1">
                <a:solidFill>
                  <a:srgbClr val="1E293B"/>
                </a:solidFill>
                <a:latin typeface="Verdana"/>
              </a:defRPr>
            </a:pPr>
            <a:r>
              <a:rPr lang="fr-FR" dirty="0"/>
              <a:t>Git hub</a:t>
            </a:r>
            <a:r>
              <a:rPr dirty="0"/>
              <a:t>: </a:t>
            </a:r>
            <a:r>
              <a:rPr lang="fr-FR" b="0" dirty="0">
                <a:solidFill>
                  <a:srgbClr val="64748B"/>
                </a:solidFill>
              </a:rPr>
              <a:t>Utilisé pour héberger les documents (datasets et documents de prototypage) sur une plateforme partagée en ligne. </a:t>
            </a:r>
            <a:endParaRPr b="0" dirty="0">
              <a:solidFill>
                <a:srgbClr val="64748B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53312"/>
            <a:ext cx="12191695" cy="254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F172A"/>
                </a:solidFill>
                <a:latin typeface="Georgia"/>
              </a:defRPr>
            </a:pPr>
            <a:r>
              <a:rPr dirty="0" err="1"/>
              <a:t>Création</a:t>
            </a:r>
            <a:r>
              <a:rPr dirty="0"/>
              <a:t> de Variables &amp; </a:t>
            </a:r>
            <a:r>
              <a:rPr dirty="0" err="1"/>
              <a:t>Stratégie</a:t>
            </a:r>
            <a:r>
              <a:rPr dirty="0"/>
              <a:t> </a:t>
            </a:r>
            <a:r>
              <a:rPr dirty="0" err="1"/>
              <a:t>d'Encodage</a:t>
            </a:r>
            <a:r>
              <a:rPr dirty="0"/>
              <a:t> / </a:t>
            </a:r>
            <a:r>
              <a:rPr dirty="0" err="1"/>
              <a:t>Normalisation</a:t>
            </a:r>
            <a:endParaRPr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B86A0C1-4321-F803-A8F1-C9000FDD5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Modélisation Prédictive (Machine Learning)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ED045F2-6E5B-68A2-C23E-DB335C0B7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8" name="Table 3">
            <a:extLst>
              <a:ext uri="{FF2B5EF4-FFF2-40B4-BE49-F238E27FC236}">
                <a16:creationId xmlns:a16="http://schemas.microsoft.com/office/drawing/2014/main" id="{3E420A4F-E5FB-C008-F61D-932B5C859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2861616"/>
              </p:ext>
            </p:extLst>
          </p:nvPr>
        </p:nvGraphicFramePr>
        <p:xfrm>
          <a:off x="782320" y="1773382"/>
          <a:ext cx="10647680" cy="19127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77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3455">
                  <a:extLst>
                    <a:ext uri="{9D8B030D-6E8A-4147-A177-3AD203B41FA5}">
                      <a16:colId xmlns:a16="http://schemas.microsoft.com/office/drawing/2014/main" val="1402259042"/>
                    </a:ext>
                  </a:extLst>
                </a:gridCol>
                <a:gridCol w="566650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0059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8FAFC"/>
                          </a:solidFill>
                          <a:latin typeface="Verdana"/>
                        </a:defRPr>
                      </a:pPr>
                      <a:r>
                        <a:rPr lang="fr-FR" dirty="0"/>
                        <a:t>Nom complet  de la feature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8FAFC"/>
                          </a:solidFill>
                          <a:latin typeface="Verdana"/>
                        </a:defRPr>
                      </a:pPr>
                      <a:r>
                        <a:rPr lang="fr-FR" dirty="0"/>
                        <a:t>Code de la feature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8FAFC"/>
                          </a:solidFill>
                          <a:latin typeface="Verdana"/>
                        </a:defRPr>
                      </a:pPr>
                      <a:r>
                        <a:rPr lang="fr-FR" dirty="0"/>
                        <a:t>Description de la feature</a:t>
                      </a:r>
                      <a:endParaRPr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34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E293B"/>
                          </a:solidFill>
                          <a:latin typeface="Verdana"/>
                        </a:defRPr>
                      </a:pPr>
                      <a:r>
                        <a:rPr lang="fr-FR" dirty="0"/>
                        <a:t>FE1_is_multi_type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E293B"/>
                          </a:solidFill>
                          <a:latin typeface="Verdana"/>
                        </a:defRPr>
                      </a:pPr>
                      <a:r>
                        <a:rPr lang="fr-FR" dirty="0"/>
                        <a:t>FE1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1200" kern="1200" dirty="0">
                          <a:solidFill>
                            <a:srgbClr val="1E293B"/>
                          </a:solidFill>
                          <a:latin typeface="Verdana"/>
                          <a:ea typeface="+mn-ea"/>
                          <a:cs typeface="+mn-cs"/>
                        </a:rPr>
                        <a:t>Permet de savoir si un bâtiment est multi usage ou non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34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E293B"/>
                          </a:solidFill>
                          <a:latin typeface="Verdana"/>
                        </a:defRPr>
                      </a:pPr>
                      <a:r>
                        <a:rPr lang="fr-FR" dirty="0"/>
                        <a:t>FE2_year_in_activity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E293B"/>
                          </a:solidFill>
                          <a:latin typeface="Verdana"/>
                        </a:defRPr>
                      </a:pPr>
                      <a:r>
                        <a:rPr lang="fr-FR" dirty="0"/>
                        <a:t>FE2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200">
                          <a:solidFill>
                            <a:srgbClr val="1E293B"/>
                          </a:solidFill>
                          <a:latin typeface="Verdana"/>
                        </a:defRPr>
                      </a:pPr>
                      <a:r>
                        <a:rPr lang="fr-FR" sz="1200" b="0" kern="1200" dirty="0">
                          <a:solidFill>
                            <a:srgbClr val="1E293B"/>
                          </a:solidFill>
                          <a:effectLst/>
                          <a:latin typeface="Verdana"/>
                          <a:ea typeface="+mn-ea"/>
                          <a:cs typeface="+mn-cs"/>
                        </a:rPr>
                        <a:t>Calculer l'âge des bâtiments (permet de savoir si un vieux bâtiment a tendance a consommer davantage)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34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E293B"/>
                          </a:solidFill>
                          <a:latin typeface="Verdana"/>
                        </a:defRPr>
                      </a:pPr>
                      <a:r>
                        <a:rPr lang="fr-FR" dirty="0"/>
                        <a:t>FE3_floor_area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E293B"/>
                          </a:solidFill>
                          <a:latin typeface="Verdana"/>
                        </a:defRPr>
                      </a:pPr>
                      <a:r>
                        <a:rPr lang="fr-FR" dirty="0"/>
                        <a:t>FE3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200">
                          <a:solidFill>
                            <a:srgbClr val="1E293B"/>
                          </a:solidFill>
                          <a:latin typeface="Verdana"/>
                        </a:defRPr>
                      </a:pPr>
                      <a:r>
                        <a:rPr lang="fr-FR" sz="1200" b="0" kern="1200" dirty="0">
                          <a:solidFill>
                            <a:srgbClr val="1E293B"/>
                          </a:solidFill>
                          <a:effectLst/>
                          <a:latin typeface="Verdana"/>
                          <a:ea typeface="+mn-ea"/>
                          <a:cs typeface="+mn-cs"/>
                        </a:rPr>
                        <a:t>Permet de connaitre la superficie d'un étage (indication sur la consommation)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887854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53312"/>
            <a:ext cx="12191695" cy="254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F172A"/>
                </a:solidFill>
                <a:latin typeface="Georgia"/>
              </a:defRPr>
            </a:pPr>
            <a:r>
              <a:rPr dirty="0"/>
              <a:t>Choix des </a:t>
            </a:r>
            <a:r>
              <a:rPr dirty="0" err="1"/>
              <a:t>Algorithmes</a:t>
            </a:r>
            <a:r>
              <a:rPr dirty="0"/>
              <a:t> &amp; Protocole de Validation </a:t>
            </a:r>
            <a:r>
              <a:rPr dirty="0" err="1"/>
              <a:t>Croisée</a:t>
            </a:r>
            <a:endParaRPr dirty="0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E0892D9C-B075-B622-4BC6-F02684AC3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err="1"/>
              <a:t>Modélisation</a:t>
            </a:r>
            <a:r>
              <a:rPr lang="en-US" dirty="0"/>
              <a:t> </a:t>
            </a:r>
            <a:r>
              <a:rPr lang="en-US" dirty="0" err="1"/>
              <a:t>Prédictive</a:t>
            </a:r>
            <a:r>
              <a:rPr lang="en-US" dirty="0"/>
              <a:t> (Machine Learning)</a:t>
            </a:r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7ED19E99-CB2F-E13D-7FC0-AFF2BBDDB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0C9373-051F-2EA0-7C4E-ED0D0A0E1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ABF23D3-E78C-16C6-15A6-2603EEFD0283}"/>
              </a:ext>
            </a:extLst>
          </p:cNvPr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E540ED-8576-691E-8C45-A24DFA9504B3}"/>
              </a:ext>
            </a:extLst>
          </p:cNvPr>
          <p:cNvSpPr/>
          <p:nvPr/>
        </p:nvSpPr>
        <p:spPr>
          <a:xfrm>
            <a:off x="0" y="1353312"/>
            <a:ext cx="12191695" cy="254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9EAE68-BA05-DADE-7DD1-233B83260D2B}"/>
              </a:ext>
            </a:extLst>
          </p:cNvPr>
          <p:cNvSpPr txBox="1"/>
          <p:nvPr/>
        </p:nvSpPr>
        <p:spPr>
          <a:xfrm>
            <a:off x="731520" y="320040"/>
            <a:ext cx="1069848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F172A"/>
                </a:solidFill>
                <a:latin typeface="Georgia"/>
              </a:defRPr>
            </a:pPr>
            <a:r>
              <a:rPr lang="fr-FR" dirty="0"/>
              <a:t>Scores a l’issue des </a:t>
            </a:r>
            <a:r>
              <a:rPr lang="fr-FR" dirty="0" err="1"/>
              <a:t>entrainnements</a:t>
            </a:r>
            <a:r>
              <a:rPr lang="fr-FR" dirty="0"/>
              <a:t> de </a:t>
            </a:r>
            <a:r>
              <a:rPr lang="fr-FR" dirty="0" err="1"/>
              <a:t>modeles</a:t>
            </a:r>
            <a:endParaRPr dirty="0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2C1043E0-BA57-F17E-5660-7FF361751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err="1"/>
              <a:t>Modélisation</a:t>
            </a:r>
            <a:r>
              <a:rPr lang="en-US" dirty="0"/>
              <a:t> </a:t>
            </a:r>
            <a:r>
              <a:rPr lang="en-US" dirty="0" err="1"/>
              <a:t>Prédictive</a:t>
            </a:r>
            <a:r>
              <a:rPr lang="en-US" dirty="0"/>
              <a:t> (Machine Learning)</a:t>
            </a:r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4D34DF3B-A287-DBCC-4314-240B5CF62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  <p:graphicFrame>
        <p:nvGraphicFramePr>
          <p:cNvPr id="5" name="Table 3">
            <a:extLst>
              <a:ext uri="{FF2B5EF4-FFF2-40B4-BE49-F238E27FC236}">
                <a16:creationId xmlns:a16="http://schemas.microsoft.com/office/drawing/2014/main" id="{24982C6D-FA47-CB77-65A5-3809538715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5089857"/>
              </p:ext>
            </p:extLst>
          </p:nvPr>
        </p:nvGraphicFramePr>
        <p:xfrm>
          <a:off x="731520" y="2397379"/>
          <a:ext cx="10461106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20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0001">
                  <a:extLst>
                    <a:ext uri="{9D8B030D-6E8A-4147-A177-3AD203B41FA5}">
                      <a16:colId xmlns:a16="http://schemas.microsoft.com/office/drawing/2014/main" val="1402259042"/>
                    </a:ext>
                  </a:extLst>
                </a:gridCol>
                <a:gridCol w="15700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00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391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5216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8FAFC"/>
                          </a:solidFill>
                          <a:latin typeface="Verdana"/>
                        </a:defRPr>
                      </a:pPr>
                      <a:r>
                        <a:rPr dirty="0" err="1"/>
                        <a:t>Modèle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Testé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8FAFC"/>
                          </a:solidFill>
                          <a:latin typeface="Verdana"/>
                        </a:defRPr>
                      </a:pPr>
                      <a:r>
                        <a:rPr dirty="0"/>
                        <a:t>R²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8FAFC"/>
                          </a:solidFill>
                          <a:latin typeface="Verdana"/>
                        </a:defRPr>
                      </a:pPr>
                      <a:r>
                        <a:t>RMSE (Val)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8FAFC"/>
                          </a:solidFill>
                          <a:latin typeface="Verdana"/>
                        </a:defRPr>
                      </a:pPr>
                      <a:r>
                        <a:t>MAE (Val)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8FAFC"/>
                          </a:solidFill>
                          <a:latin typeface="Verdana"/>
                        </a:defRPr>
                      </a:pPr>
                      <a:r>
                        <a:t>Statut / Décision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E293B"/>
                          </a:solidFill>
                          <a:latin typeface="Verdana"/>
                        </a:defRPr>
                      </a:pPr>
                      <a:r>
                        <a:rPr dirty="0"/>
                        <a:t>Baseline : </a:t>
                      </a:r>
                      <a:r>
                        <a:rPr dirty="0" err="1"/>
                        <a:t>Régression</a:t>
                      </a:r>
                      <a:r>
                        <a:rPr dirty="0"/>
                        <a:t> 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Verdana"/>
                        </a:defRPr>
                      </a:pPr>
                      <a:r>
                        <a:rPr dirty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Verdana"/>
                        </a:defRPr>
                      </a:pPr>
                      <a:r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Verdana"/>
                        </a:defRPr>
                      </a:pPr>
                      <a:r>
                        <a:t>0.42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Verdana"/>
                        </a:defRPr>
                      </a:pPr>
                      <a:r>
                        <a:t>Modèle de référence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E293B"/>
                          </a:solidFill>
                          <a:latin typeface="Verdana"/>
                        </a:defRPr>
                      </a:pPr>
                      <a:r>
                        <a:t>Random Forest (Défaut)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Verdana"/>
                        </a:defRPr>
                      </a:pPr>
                      <a:r>
                        <a:rPr dirty="0"/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Verdana"/>
                        </a:defRPr>
                      </a:pPr>
                      <a:r>
                        <a:t>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Verdana"/>
                        </a:defRPr>
                      </a:pPr>
                      <a:r>
                        <a:t>0.29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Verdana"/>
                        </a:defRPr>
                      </a:pPr>
                      <a:r>
                        <a:rPr dirty="0"/>
                        <a:t>Gain net non-</a:t>
                      </a:r>
                      <a:r>
                        <a:rPr dirty="0" err="1"/>
                        <a:t>linéaire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E293B"/>
                          </a:solidFill>
                          <a:latin typeface="Verdana"/>
                        </a:defRPr>
                      </a:pPr>
                      <a:r>
                        <a:rPr lang="fr-FR" dirty="0"/>
                        <a:t>SVR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Verdana"/>
                        </a:defRPr>
                      </a:pP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Verdana"/>
                        </a:defRPr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Verdana"/>
                        </a:defRPr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Verdana"/>
                        </a:defRPr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8878549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D9488"/>
                          </a:solidFill>
                          <a:latin typeface="Verdana"/>
                        </a:defRPr>
                      </a:pPr>
                      <a:r>
                        <a:rPr dirty="0"/>
                        <a:t>Random Forest (</a:t>
                      </a:r>
                      <a:r>
                        <a:rPr dirty="0" err="1"/>
                        <a:t>GridSearch</a:t>
                      </a:r>
                      <a:r>
                        <a:rPr dirty="0"/>
                        <a:t>)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D9488"/>
                          </a:solidFill>
                          <a:latin typeface="Verdana"/>
                        </a:defRPr>
                      </a:pPr>
                      <a:r>
                        <a:rPr dirty="0"/>
                        <a:t>0.87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D9488"/>
                          </a:solidFill>
                          <a:latin typeface="Verdana"/>
                        </a:defRPr>
                      </a:pPr>
                      <a:r>
                        <a:rPr dirty="0"/>
                        <a:t>0.31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D9488"/>
                          </a:solidFill>
                          <a:latin typeface="Verdana"/>
                        </a:defRPr>
                      </a:pPr>
                      <a:r>
                        <a:t>0.21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D9488"/>
                          </a:solidFill>
                          <a:latin typeface="Verdana"/>
                        </a:defRPr>
                      </a:pPr>
                      <a:r>
                        <a:rPr dirty="0"/>
                        <a:t>Meilleur </a:t>
                      </a:r>
                      <a:r>
                        <a:rPr dirty="0" err="1"/>
                        <a:t>Modèle</a:t>
                      </a:r>
                      <a:endParaRPr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08814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53312"/>
            <a:ext cx="12191695" cy="254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F172A"/>
                </a:solidFill>
                <a:latin typeface="Georgia"/>
              </a:defRPr>
            </a:pPr>
            <a:r>
              <a:rPr dirty="0" err="1"/>
              <a:t>Optimisation</a:t>
            </a:r>
            <a:r>
              <a:rPr dirty="0"/>
              <a:t> par Grid Search &amp; </a:t>
            </a:r>
            <a:r>
              <a:rPr dirty="0" err="1"/>
              <a:t>Métriques</a:t>
            </a:r>
            <a:r>
              <a:rPr dirty="0"/>
              <a:t> de Performance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41B3FC0-400B-BB3A-C0FD-28896B03B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Modélisation Prédictive (Machine Learning)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C0DA18C-A112-C469-7514-C26DF0188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  <p:graphicFrame>
        <p:nvGraphicFramePr>
          <p:cNvPr id="8" name="Table 3">
            <a:extLst>
              <a:ext uri="{FF2B5EF4-FFF2-40B4-BE49-F238E27FC236}">
                <a16:creationId xmlns:a16="http://schemas.microsoft.com/office/drawing/2014/main" id="{A9BA7211-979A-8679-63AA-F7882E9CB4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3508592"/>
              </p:ext>
            </p:extLst>
          </p:nvPr>
        </p:nvGraphicFramePr>
        <p:xfrm>
          <a:off x="731520" y="2397379"/>
          <a:ext cx="10461106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20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0001">
                  <a:extLst>
                    <a:ext uri="{9D8B030D-6E8A-4147-A177-3AD203B41FA5}">
                      <a16:colId xmlns:a16="http://schemas.microsoft.com/office/drawing/2014/main" val="1402259042"/>
                    </a:ext>
                  </a:extLst>
                </a:gridCol>
                <a:gridCol w="15700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00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391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5216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8FAFC"/>
                          </a:solidFill>
                          <a:latin typeface="Verdana"/>
                        </a:defRPr>
                      </a:pPr>
                      <a:r>
                        <a:rPr dirty="0" err="1"/>
                        <a:t>Modèle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Testé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8FAFC"/>
                          </a:solidFill>
                          <a:latin typeface="Verdana"/>
                        </a:defRPr>
                      </a:pPr>
                      <a:r>
                        <a:rPr dirty="0"/>
                        <a:t>R²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8FAFC"/>
                          </a:solidFill>
                          <a:latin typeface="Verdana"/>
                        </a:defRPr>
                      </a:pPr>
                      <a:r>
                        <a:t>RMSE (Val)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8FAFC"/>
                          </a:solidFill>
                          <a:latin typeface="Verdana"/>
                        </a:defRPr>
                      </a:pPr>
                      <a:r>
                        <a:t>MAE (Val)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8FAFC"/>
                          </a:solidFill>
                          <a:latin typeface="Verdana"/>
                        </a:defRPr>
                      </a:pPr>
                      <a:r>
                        <a:rPr lang="fr-FR" dirty="0"/>
                        <a:t>Commentaires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E293B"/>
                          </a:solidFill>
                          <a:latin typeface="Verdana"/>
                        </a:defRPr>
                      </a:pPr>
                      <a:r>
                        <a:t>Random Forest (Défaut)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Verdana"/>
                        </a:defRPr>
                      </a:pPr>
                      <a:r>
                        <a:rPr dirty="0"/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Verdana"/>
                        </a:defRPr>
                      </a:pPr>
                      <a:r>
                        <a:t>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Verdana"/>
                        </a:defRPr>
                      </a:pPr>
                      <a:r>
                        <a:t>0.29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Verdana"/>
                        </a:defRPr>
                      </a:pPr>
                      <a:r>
                        <a:rPr dirty="0"/>
                        <a:t>Gain net non-</a:t>
                      </a:r>
                      <a:r>
                        <a:rPr dirty="0" err="1"/>
                        <a:t>linéaire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D9488"/>
                          </a:solidFill>
                          <a:latin typeface="Verdana"/>
                        </a:defRPr>
                      </a:pPr>
                      <a:r>
                        <a:rPr dirty="0"/>
                        <a:t>Random Forest (</a:t>
                      </a:r>
                      <a:r>
                        <a:rPr dirty="0" err="1"/>
                        <a:t>GridSearch</a:t>
                      </a:r>
                      <a:r>
                        <a:rPr dirty="0"/>
                        <a:t>)</a:t>
                      </a:r>
                    </a:p>
                  </a:txBody>
                  <a:tcP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D9488"/>
                          </a:solidFill>
                          <a:latin typeface="Verdana"/>
                        </a:defRPr>
                      </a:pPr>
                      <a:r>
                        <a:rPr dirty="0"/>
                        <a:t>0.87</a:t>
                      </a:r>
                    </a:p>
                  </a:txBody>
                  <a:tcP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D9488"/>
                          </a:solidFill>
                          <a:latin typeface="Verdana"/>
                        </a:defRPr>
                      </a:pPr>
                      <a:r>
                        <a:rPr dirty="0"/>
                        <a:t>0.31</a:t>
                      </a:r>
                    </a:p>
                  </a:txBody>
                  <a:tcP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D9488"/>
                          </a:solidFill>
                          <a:latin typeface="Verdana"/>
                        </a:defRPr>
                      </a:pPr>
                      <a:r>
                        <a:t>0.21</a:t>
                      </a:r>
                    </a:p>
                  </a:txBody>
                  <a:tcP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D9488"/>
                          </a:solidFill>
                          <a:latin typeface="Verdana"/>
                        </a:defRPr>
                      </a:pPr>
                      <a:r>
                        <a:rPr dirty="0"/>
                        <a:t>Meilleur </a:t>
                      </a:r>
                      <a:r>
                        <a:rPr dirty="0" err="1"/>
                        <a:t>Modèle</a:t>
                      </a:r>
                      <a:endParaRPr dirty="0"/>
                    </a:p>
                  </a:txBody>
                  <a:tcP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53312"/>
            <a:ext cx="12191695" cy="254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711" y="239524"/>
            <a:ext cx="10722093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F172A"/>
                </a:solidFill>
                <a:latin typeface="Georgia"/>
              </a:defRPr>
            </a:pPr>
            <a:r>
              <a:rPr lang="fr-FR" dirty="0"/>
              <a:t>Interprétation des résultats </a:t>
            </a:r>
          </a:p>
          <a:p>
            <a:pPr algn="l">
              <a:defRPr sz="2600" b="1">
                <a:solidFill>
                  <a:srgbClr val="0F172A"/>
                </a:solidFill>
                <a:latin typeface="Georgia"/>
              </a:defRPr>
            </a:pPr>
            <a:r>
              <a:rPr dirty="0"/>
              <a:t>&amp; </a:t>
            </a:r>
            <a:r>
              <a:rPr dirty="0" err="1"/>
              <a:t>Analyse</a:t>
            </a:r>
            <a:r>
              <a:rPr dirty="0"/>
              <a:t> de la Feature Importance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EAA2C0B-0343-0C8E-0A7E-F63A3CB11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Modélisation Prédictive (Machine Learning)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1E62298-ADC2-9685-A94A-56FA7803F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53312"/>
            <a:ext cx="12191695" cy="254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F172A"/>
                </a:solidFill>
                <a:latin typeface="Georgia"/>
              </a:defRPr>
            </a:pPr>
            <a:r>
              <a:rPr dirty="0"/>
              <a:t>Choix du </a:t>
            </a:r>
            <a:r>
              <a:rPr dirty="0" err="1"/>
              <a:t>Modèle</a:t>
            </a:r>
            <a:r>
              <a:rPr dirty="0"/>
              <a:t> Final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221D419-74FD-651D-E247-CC66EBD75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Modélisation Prédictive (Machine Learning)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572EEE3-396E-42BC-E034-236DA4275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324</TotalTime>
  <Words>621</Words>
  <Application>Microsoft Macintosh PowerPoint</Application>
  <PresentationFormat>Grand écran</PresentationFormat>
  <Paragraphs>102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Verdana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David Richomme</cp:lastModifiedBy>
  <cp:revision>5</cp:revision>
  <dcterms:created xsi:type="dcterms:W3CDTF">2013-01-27T09:14:16Z</dcterms:created>
  <dcterms:modified xsi:type="dcterms:W3CDTF">2026-10-18T21:02:33Z</dcterms:modified>
  <cp:category/>
</cp:coreProperties>
</file>